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781" r:id="rId1"/>
  </p:sldMasterIdLst>
  <p:notesMasterIdLst>
    <p:notesMasterId r:id="rId10"/>
  </p:notesMasterIdLst>
  <p:sldIdLst>
    <p:sldId id="256" r:id="rId2"/>
    <p:sldId id="257" r:id="rId3"/>
    <p:sldId id="258" r:id="rId4"/>
    <p:sldId id="267" r:id="rId5"/>
    <p:sldId id="259" r:id="rId6"/>
    <p:sldId id="260" r:id="rId7"/>
    <p:sldId id="261" r:id="rId8"/>
    <p:sldId id="266" r:id="rId9"/>
  </p:sldIdLst>
  <p:sldSz cx="12192000" cy="6858000"/>
  <p:notesSz cx="6858000" cy="12192000"/>
  <p:embeddedFontLst>
    <p:embeddedFont>
      <p:font typeface="Bahnschrift SemiBold" panose="020B0502040204020203" pitchFamily="34" charset="0"/>
      <p:bold r:id="rId11"/>
    </p:embeddedFont>
    <p:embeddedFont>
      <p:font typeface="Bell MT" panose="02020503060305020303" pitchFamily="18" charset="0"/>
      <p:regular r:id="rId12"/>
      <p:bold r:id="rId13"/>
      <p:italic r:id="rId14"/>
    </p:embeddedFont>
    <p:embeddedFont>
      <p:font typeface="Berlin Sans FB Demi" panose="020E0802020502020306" pitchFamily="34" charset="0"/>
      <p:bold r:id="rId15"/>
    </p:embeddedFont>
    <p:embeddedFont>
      <p:font typeface="Bookman Old Style" panose="02050604050505020204" pitchFamily="18" charset="0"/>
      <p:regular r:id="rId16"/>
      <p:bold r:id="rId17"/>
      <p:italic r:id="rId18"/>
      <p:boldItalic r:id="rId19"/>
    </p:embeddedFont>
    <p:embeddedFont>
      <p:font typeface="Gelasio" panose="020B0604020202020204" charset="0"/>
      <p:regular r:id="rId20"/>
    </p:embeddedFont>
    <p:embeddedFont>
      <p:font typeface="Lato" panose="020F0502020204030203" pitchFamily="34" charset="0"/>
      <p:regular r:id="rId21"/>
      <p:bold r:id="rId22"/>
      <p:italic r:id="rId23"/>
      <p:boldItalic r:id="rId24"/>
    </p:embeddedFont>
    <p:embeddedFont>
      <p:font typeface="Trebuchet MS" panose="020B0603020202020204" pitchFamily="34" charset="0"/>
      <p:regular r:id="rId25"/>
      <p:bold r:id="rId26"/>
      <p:italic r:id="rId27"/>
      <p:boldItalic r:id="rId28"/>
    </p:embeddedFont>
    <p:embeddedFont>
      <p:font typeface="Wingdings 3" panose="05040102010807070707" pitchFamily="18" charset="2"/>
      <p:regular r:id="rId2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75" d="100"/>
          <a:sy n="75" d="100"/>
        </p:scale>
        <p:origin x="1122" y="3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font" Target="fonts/font3.fntdata"/><Relationship Id="rId18" Type="http://schemas.openxmlformats.org/officeDocument/2006/relationships/font" Target="fonts/font8.fntdata"/><Relationship Id="rId26" Type="http://schemas.openxmlformats.org/officeDocument/2006/relationships/font" Target="fonts/font16.fntdata"/><Relationship Id="rId3" Type="http://schemas.openxmlformats.org/officeDocument/2006/relationships/slide" Target="slides/slide2.xml"/><Relationship Id="rId21" Type="http://schemas.openxmlformats.org/officeDocument/2006/relationships/font" Target="fonts/font11.fntdata"/><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5" Type="http://schemas.openxmlformats.org/officeDocument/2006/relationships/font" Target="fonts/font15.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font" Target="fonts/font10.fntdata"/><Relationship Id="rId29" Type="http://schemas.openxmlformats.org/officeDocument/2006/relationships/font" Target="fonts/font1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24" Type="http://schemas.openxmlformats.org/officeDocument/2006/relationships/font" Target="fonts/font14.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5.fntdata"/><Relationship Id="rId23" Type="http://schemas.openxmlformats.org/officeDocument/2006/relationships/font" Target="fonts/font13.fntdata"/><Relationship Id="rId28" Type="http://schemas.openxmlformats.org/officeDocument/2006/relationships/font" Target="fonts/font18.fntdata"/><Relationship Id="rId10" Type="http://schemas.openxmlformats.org/officeDocument/2006/relationships/notesMaster" Target="notesMasters/notesMaster1.xml"/><Relationship Id="rId19" Type="http://schemas.openxmlformats.org/officeDocument/2006/relationships/font" Target="fonts/font9.fntdata"/><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font" Target="fonts/font12.fntdata"/><Relationship Id="rId27" Type="http://schemas.openxmlformats.org/officeDocument/2006/relationships/font" Target="fonts/font17.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74112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69232991"/>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1129884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4278323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8/30/2026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92321822"/>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8/30/2026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47803804"/>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8/30/2026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20309057"/>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8/30/2026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68618650"/>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8/30/2026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7170798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8/30/2026</a:t>
            </a:fld>
            <a:endParaRPr lang="en-US" dirty="0"/>
          </a:p>
        </p:txBody>
      </p:sp>
    </p:spTree>
    <p:extLst>
      <p:ext uri="{BB962C8B-B14F-4D97-AF65-F5344CB8AC3E}">
        <p14:creationId xmlns:p14="http://schemas.microsoft.com/office/powerpoint/2010/main" val="3560982544"/>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3100219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182754460"/>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27685604"/>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166403278"/>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40089910"/>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50097431"/>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64520497"/>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1685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8/30/2026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81911133"/>
      </p:ext>
    </p:extLst>
  </p:cSld>
  <p:clrMap bg1="lt1" tx1="dk1" bg2="lt2" tx2="dk2" accent1="accent1" accent2="accent2" accent3="accent3" accent4="accent4" accent5="accent5" accent6="accent6" hlink="hlink" folHlink="folHlink"/>
  <p:sldLayoutIdLst>
    <p:sldLayoutId id="2147483782" r:id="rId1"/>
    <p:sldLayoutId id="2147483783" r:id="rId2"/>
    <p:sldLayoutId id="2147483784" r:id="rId3"/>
    <p:sldLayoutId id="2147483785" r:id="rId4"/>
    <p:sldLayoutId id="2147483786" r:id="rId5"/>
    <p:sldLayoutId id="2147483787" r:id="rId6"/>
    <p:sldLayoutId id="2147483788" r:id="rId7"/>
    <p:sldLayoutId id="2147483789" r:id="rId8"/>
    <p:sldLayoutId id="2147483790" r:id="rId9"/>
    <p:sldLayoutId id="2147483791" r:id="rId10"/>
    <p:sldLayoutId id="2147483792" r:id="rId11"/>
    <p:sldLayoutId id="2147483793" r:id="rId12"/>
    <p:sldLayoutId id="2147483794" r:id="rId13"/>
    <p:sldLayoutId id="2147483795" r:id="rId14"/>
    <p:sldLayoutId id="2147483796" r:id="rId15"/>
    <p:sldLayoutId id="2147483797" r:id="rId16"/>
    <p:sldLayoutId id="2147483798" r:id="rId17"/>
  </p:sldLayoutIdLst>
  <p:hf sldNum="0"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7.xml"/><Relationship Id="rId4" Type="http://schemas.openxmlformats.org/officeDocument/2006/relationships/image" Target="../media/image7.sv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7.xml"/><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1" y="0"/>
            <a:ext cx="5602941" cy="6858000"/>
          </a:xfrm>
          <a:prstGeom prst="rect">
            <a:avLst/>
          </a:prstGeom>
          <a:solidFill>
            <a:srgbClr val="E8E8E3"/>
          </a:solidFill>
          <a:ln/>
        </p:spPr>
      </p:sp>
      <p:pic>
        <p:nvPicPr>
          <p:cNvPr id="3" name="Image 0" descr="preencoded.png"/>
          <p:cNvPicPr>
            <a:picLocks noChangeAspect="1"/>
          </p:cNvPicPr>
          <p:nvPr/>
        </p:nvPicPr>
        <p:blipFill>
          <a:blip r:embed="rId3"/>
          <a:stretch>
            <a:fillRect/>
          </a:stretch>
        </p:blipFill>
        <p:spPr>
          <a:xfrm>
            <a:off x="1069641" y="2201337"/>
            <a:ext cx="4773332" cy="4289729"/>
          </a:xfrm>
          <a:prstGeom prst="rect">
            <a:avLst/>
          </a:prstGeom>
        </p:spPr>
      </p:pic>
      <p:sp>
        <p:nvSpPr>
          <p:cNvPr id="4" name="Text 1"/>
          <p:cNvSpPr/>
          <p:nvPr/>
        </p:nvSpPr>
        <p:spPr>
          <a:xfrm>
            <a:off x="146261" y="366934"/>
            <a:ext cx="8758042" cy="1587372"/>
          </a:xfrm>
          <a:prstGeom prst="rect">
            <a:avLst/>
          </a:prstGeom>
          <a:noFill/>
          <a:ln/>
        </p:spPr>
        <p:txBody>
          <a:bodyPr wrap="square" lIns="0" tIns="0" rIns="0" bIns="0" rtlCol="0" anchor="t">
            <a:normAutofit/>
          </a:bodyPr>
          <a:lstStyle/>
          <a:p>
            <a:pPr marL="0" indent="0" algn="l">
              <a:lnSpc>
                <a:spcPct val="104000"/>
              </a:lnSpc>
              <a:buNone/>
            </a:pPr>
            <a:r>
              <a:rPr lang="en-US" sz="3700" dirty="0">
                <a:solidFill>
                  <a:srgbClr val="312F2B"/>
                </a:solidFill>
                <a:latin typeface="Gelasio" pitchFamily="34" charset="0"/>
                <a:ea typeface="Gelasio" pitchFamily="34" charset="-122"/>
                <a:cs typeface="Gelasio" pitchFamily="34" charset="-120"/>
              </a:rPr>
              <a:t>Inventory &amp; Supply Chain   </a:t>
            </a:r>
          </a:p>
          <a:p>
            <a:pPr marL="0" indent="0" algn="l">
              <a:lnSpc>
                <a:spcPct val="104000"/>
              </a:lnSpc>
              <a:buNone/>
            </a:pPr>
            <a:r>
              <a:rPr lang="en-US" sz="3700" dirty="0">
                <a:solidFill>
                  <a:srgbClr val="312F2B"/>
                </a:solidFill>
                <a:latin typeface="Gelasio" pitchFamily="34" charset="0"/>
                <a:ea typeface="Gelasio" pitchFamily="34" charset="-122"/>
                <a:cs typeface="Gelasio" pitchFamily="34" charset="-120"/>
              </a:rPr>
              <a:t>                         Tracker with Reorder Alerts</a:t>
            </a:r>
            <a:endParaRPr lang="en-US" sz="3700" dirty="0"/>
          </a:p>
        </p:txBody>
      </p:sp>
      <p:sp>
        <p:nvSpPr>
          <p:cNvPr id="5" name="Text 2"/>
          <p:cNvSpPr/>
          <p:nvPr/>
        </p:nvSpPr>
        <p:spPr>
          <a:xfrm>
            <a:off x="7435504" y="1509184"/>
            <a:ext cx="2937598" cy="302419"/>
          </a:xfrm>
          <a:prstGeom prst="rect">
            <a:avLst/>
          </a:prstGeom>
          <a:noFill/>
          <a:ln/>
        </p:spPr>
        <p:txBody>
          <a:bodyPr wrap="none" lIns="0" tIns="0" rIns="0" bIns="0" rtlCol="0" anchor="t"/>
          <a:lstStyle/>
          <a:p>
            <a:pPr marL="0" indent="0" algn="l">
              <a:lnSpc>
                <a:spcPct val="133000"/>
              </a:lnSpc>
              <a:buNone/>
            </a:pPr>
            <a:r>
              <a:rPr lang="en-US" sz="1400" b="1" u="dbl" dirty="0">
                <a:solidFill>
                  <a:srgbClr val="312F2B"/>
                </a:solidFill>
                <a:uFill>
                  <a:solidFill>
                    <a:schemeClr val="tx1">
                      <a:lumMod val="85000"/>
                      <a:lumOff val="15000"/>
                    </a:schemeClr>
                  </a:solidFill>
                </a:uFill>
                <a:latin typeface="Gelasio" pitchFamily="34" charset="0"/>
                <a:cs typeface="Gelasio" pitchFamily="34" charset="-120"/>
              </a:rPr>
              <a:t>Real-time visibility, zero stockouts</a:t>
            </a:r>
          </a:p>
        </p:txBody>
      </p:sp>
      <p:pic>
        <p:nvPicPr>
          <p:cNvPr id="1026" name="Picture 2">
            <a:extLst>
              <a:ext uri="{FF2B5EF4-FFF2-40B4-BE49-F238E27FC236}">
                <a16:creationId xmlns:a16="http://schemas.microsoft.com/office/drawing/2014/main" id="{BE8F88E1-AA83-B1DA-8947-7FF31F43F30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10836" y="82853"/>
            <a:ext cx="2644287" cy="107776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4"/>
                                        </p:tgtEl>
                                        <p:attrNameLst>
                                          <p:attrName>style.visibility</p:attrName>
                                        </p:attrNameLst>
                                      </p:cBhvr>
                                      <p:to>
                                        <p:strVal val="visible"/>
                                      </p:to>
                                    </p:set>
                                    <p:anim calcmode="lin" valueType="num">
                                      <p:cBhvr>
                                        <p:cTn id="7" dur="350" fill="hold"/>
                                        <p:tgtEl>
                                          <p:spTgt spid="4"/>
                                        </p:tgtEl>
                                        <p:attrNameLst>
                                          <p:attrName>ppt_x</p:attrName>
                                        </p:attrNameLst>
                                      </p:cBhvr>
                                      <p:tavLst>
                                        <p:tav tm="0">
                                          <p:val>
                                            <p:strVal val="#ppt_x"/>
                                          </p:val>
                                        </p:tav>
                                        <p:tav tm="50000">
                                          <p:val>
                                            <p:strVal val="#ppt_x+.1"/>
                                          </p:val>
                                        </p:tav>
                                        <p:tav tm="100000">
                                          <p:val>
                                            <p:strVal val="#ppt_x"/>
                                          </p:val>
                                        </p:tav>
                                      </p:tavLst>
                                    </p:anim>
                                    <p:anim calcmode="lin" valueType="num">
                                      <p:cBhvr>
                                        <p:cTn id="8" dur="350" fill="hold"/>
                                        <p:tgtEl>
                                          <p:spTgt spid="4"/>
                                        </p:tgtEl>
                                        <p:attrNameLst>
                                          <p:attrName>ppt_y</p:attrName>
                                        </p:attrNameLst>
                                      </p:cBhvr>
                                      <p:tavLst>
                                        <p:tav tm="0">
                                          <p:val>
                                            <p:strVal val="#ppt_y"/>
                                          </p:val>
                                        </p:tav>
                                        <p:tav tm="100000">
                                          <p:val>
                                            <p:strVal val="#ppt_y"/>
                                          </p:val>
                                        </p:tav>
                                      </p:tavLst>
                                    </p:anim>
                                    <p:anim calcmode="lin" valueType="num">
                                      <p:cBhvr>
                                        <p:cTn id="9" dur="350" fill="hold"/>
                                        <p:tgtEl>
                                          <p:spTgt spid="4"/>
                                        </p:tgtEl>
                                        <p:attrNameLst>
                                          <p:attrName>ppt_h</p:attrName>
                                        </p:attrNameLst>
                                      </p:cBhvr>
                                      <p:tavLst>
                                        <p:tav tm="0">
                                          <p:val>
                                            <p:strVal val="#ppt_h/10"/>
                                          </p:val>
                                        </p:tav>
                                        <p:tav tm="50000">
                                          <p:val>
                                            <p:strVal val="#ppt_h+.01"/>
                                          </p:val>
                                        </p:tav>
                                        <p:tav tm="100000">
                                          <p:val>
                                            <p:strVal val="#ppt_h"/>
                                          </p:val>
                                        </p:tav>
                                      </p:tavLst>
                                    </p:anim>
                                    <p:anim calcmode="lin" valueType="num">
                                      <p:cBhvr>
                                        <p:cTn id="10" dur="350" fill="hold"/>
                                        <p:tgtEl>
                                          <p:spTgt spid="4"/>
                                        </p:tgtEl>
                                        <p:attrNameLst>
                                          <p:attrName>ppt_w</p:attrName>
                                        </p:attrNameLst>
                                      </p:cBhvr>
                                      <p:tavLst>
                                        <p:tav tm="0">
                                          <p:val>
                                            <p:strVal val="#ppt_w/10"/>
                                          </p:val>
                                        </p:tav>
                                        <p:tav tm="50000">
                                          <p:val>
                                            <p:strVal val="#ppt_w+.01"/>
                                          </p:val>
                                        </p:tav>
                                        <p:tav tm="100000">
                                          <p:val>
                                            <p:strVal val="#ppt_w"/>
                                          </p:val>
                                        </p:tav>
                                      </p:tavLst>
                                    </p:anim>
                                    <p:animEffect transition="in" filter="fade">
                                      <p:cBhvr>
                                        <p:cTn id="11" dur="350" tmFilter="0,0; .5, 1; 1, 1"/>
                                        <p:tgtEl>
                                          <p:spTgt spid="4"/>
                                        </p:tgtEl>
                                      </p:cBhvr>
                                    </p:animEffect>
                                  </p:childTnLst>
                                </p:cTn>
                              </p:par>
                            </p:childTnLst>
                          </p:cTn>
                        </p:par>
                        <p:par>
                          <p:cTn id="12" fill="hold">
                            <p:stCondLst>
                              <p:cond delay="1890"/>
                            </p:stCondLst>
                            <p:childTnLst>
                              <p:par>
                                <p:cTn id="13" presetID="53" presetClass="entr" presetSubtype="16" fill="hold" grpId="0" nodeType="afterEffect">
                                  <p:stCondLst>
                                    <p:cond delay="100"/>
                                  </p:stCondLst>
                                  <p:childTnLst>
                                    <p:set>
                                      <p:cBhvr>
                                        <p:cTn id="14" dur="1" fill="hold">
                                          <p:stCondLst>
                                            <p:cond delay="0"/>
                                          </p:stCondLst>
                                        </p:cTn>
                                        <p:tgtEl>
                                          <p:spTgt spid="5"/>
                                        </p:tgtEl>
                                        <p:attrNameLst>
                                          <p:attrName>style.visibility</p:attrName>
                                        </p:attrNameLst>
                                      </p:cBhvr>
                                      <p:to>
                                        <p:strVal val="visible"/>
                                      </p:to>
                                    </p:set>
                                    <p:anim calcmode="lin" valueType="num">
                                      <p:cBhvr>
                                        <p:cTn id="15" dur="500" fill="hold"/>
                                        <p:tgtEl>
                                          <p:spTgt spid="5"/>
                                        </p:tgtEl>
                                        <p:attrNameLst>
                                          <p:attrName>ppt_w</p:attrName>
                                        </p:attrNameLst>
                                      </p:cBhvr>
                                      <p:tavLst>
                                        <p:tav tm="0">
                                          <p:val>
                                            <p:fltVal val="0"/>
                                          </p:val>
                                        </p:tav>
                                        <p:tav tm="100000">
                                          <p:val>
                                            <p:strVal val="#ppt_w"/>
                                          </p:val>
                                        </p:tav>
                                      </p:tavLst>
                                    </p:anim>
                                    <p:anim calcmode="lin" valueType="num">
                                      <p:cBhvr>
                                        <p:cTn id="16" dur="500" fill="hold"/>
                                        <p:tgtEl>
                                          <p:spTgt spid="5"/>
                                        </p:tgtEl>
                                        <p:attrNameLst>
                                          <p:attrName>ppt_h</p:attrName>
                                        </p:attrNameLst>
                                      </p:cBhvr>
                                      <p:tavLst>
                                        <p:tav tm="0">
                                          <p:val>
                                            <p:fltVal val="0"/>
                                          </p:val>
                                        </p:tav>
                                        <p:tav tm="100000">
                                          <p:val>
                                            <p:strVal val="#ppt_h"/>
                                          </p:val>
                                        </p:tav>
                                      </p:tavLst>
                                    </p:anim>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64096" y="5170"/>
            <a:ext cx="4571886" cy="6858000"/>
          </a:xfrm>
          <a:prstGeom prst="rect">
            <a:avLst/>
          </a:prstGeom>
          <a:solidFill>
            <a:srgbClr val="E8E8E3"/>
          </a:solidFill>
          <a:ln/>
        </p:spPr>
      </p:sp>
      <p:sp>
        <p:nvSpPr>
          <p:cNvPr id="4" name="Text 1"/>
          <p:cNvSpPr/>
          <p:nvPr/>
        </p:nvSpPr>
        <p:spPr>
          <a:xfrm>
            <a:off x="119170" y="803648"/>
            <a:ext cx="5072501" cy="576916"/>
          </a:xfrm>
          <a:prstGeom prst="rect">
            <a:avLst/>
          </a:prstGeom>
          <a:noFill/>
          <a:ln/>
        </p:spPr>
        <p:txBody>
          <a:bodyPr wrap="none" lIns="0" tIns="0" rIns="0" bIns="0" rtlCol="0" anchor="t"/>
          <a:lstStyle/>
          <a:p>
            <a:pPr marL="0" indent="0" algn="l">
              <a:lnSpc>
                <a:spcPct val="104000"/>
              </a:lnSpc>
              <a:buNone/>
            </a:pPr>
            <a:r>
              <a:rPr lang="en-US" sz="3000" b="1" u="dbl" dirty="0">
                <a:solidFill>
                  <a:srgbClr val="312F2B"/>
                </a:solidFill>
                <a:uFill>
                  <a:solidFill>
                    <a:schemeClr val="tx1">
                      <a:lumMod val="85000"/>
                      <a:lumOff val="15000"/>
                    </a:schemeClr>
                  </a:solidFill>
                </a:uFill>
                <a:latin typeface="Gelasio" pitchFamily="34" charset="0"/>
                <a:cs typeface="Gelasio" pitchFamily="34" charset="-120"/>
              </a:rPr>
              <a:t>PROBLEM STATEMENT:</a:t>
            </a:r>
          </a:p>
        </p:txBody>
      </p:sp>
      <p:sp>
        <p:nvSpPr>
          <p:cNvPr id="5" name="Text 2"/>
          <p:cNvSpPr/>
          <p:nvPr/>
        </p:nvSpPr>
        <p:spPr>
          <a:xfrm>
            <a:off x="5233360" y="1250302"/>
            <a:ext cx="6296860" cy="5225143"/>
          </a:xfrm>
          <a:prstGeom prst="rect">
            <a:avLst/>
          </a:prstGeom>
          <a:noFill/>
          <a:ln/>
        </p:spPr>
        <p:txBody>
          <a:bodyPr wrap="square" lIns="0" tIns="0" rIns="0" bIns="0" rtlCol="0" anchor="t">
            <a:normAutofit/>
          </a:bodyPr>
          <a:lstStyle/>
          <a:p>
            <a:pPr marL="0" indent="0" algn="l">
              <a:lnSpc>
                <a:spcPct val="133000"/>
              </a:lnSpc>
              <a:spcAft>
                <a:spcPts val="1650"/>
              </a:spcAft>
              <a:buNone/>
            </a:pPr>
            <a:endParaRPr lang="en-US" sz="1450" dirty="0"/>
          </a:p>
        </p:txBody>
      </p:sp>
      <p:sp>
        <p:nvSpPr>
          <p:cNvPr id="8" name="TextBox 7">
            <a:extLst>
              <a:ext uri="{FF2B5EF4-FFF2-40B4-BE49-F238E27FC236}">
                <a16:creationId xmlns:a16="http://schemas.microsoft.com/office/drawing/2014/main" id="{2089FAE2-D1F5-613A-1B2A-1359AC963DD5}"/>
              </a:ext>
            </a:extLst>
          </p:cNvPr>
          <p:cNvSpPr txBox="1"/>
          <p:nvPr/>
        </p:nvSpPr>
        <p:spPr>
          <a:xfrm>
            <a:off x="4666046" y="238254"/>
            <a:ext cx="4748837" cy="5909310"/>
          </a:xfrm>
          <a:prstGeom prst="rect">
            <a:avLst/>
          </a:prstGeom>
          <a:solidFill>
            <a:schemeClr val="bg1"/>
          </a:solidFill>
        </p:spPr>
        <p:txBody>
          <a:bodyPr wrap="square">
            <a:spAutoFit/>
          </a:bodyPr>
          <a:lstStyle/>
          <a:p>
            <a:pPr>
              <a:buNone/>
            </a:pPr>
            <a:r>
              <a:rPr lang="en-US" dirty="0">
                <a:latin typeface="Bookman Old Style" panose="02050604050505020204" pitchFamily="18" charset="0"/>
              </a:rPr>
              <a:t>Retail businesses need to maintain sufficient inventory to meet customer demand while avoiding excessive stock that increases holding costs and ties up working capital. Traditional inventory monitoring mainly focuses on current stock levels and may not fully utilize historical sales, demand patterns, regional performance and seasonality. The objective of this project is to develop an Inventory &amp; Supply Chain Tracker with Reorder Alerts that transforms historical sales and inventory data into actionable insights. The solution identifies inventory risks, highlights reorder requirements and supports data-driven inventory planning. The system aims to help businesses reduce stockout risk, control overstocking, improve inventory allocation and make better replenishment decisions.</a:t>
            </a:r>
            <a:endParaRPr lang="en-IN" dirty="0">
              <a:latin typeface="Bookman Old Style" panose="02050604050505020204" pitchFamily="18" charset="0"/>
            </a:endParaRPr>
          </a:p>
        </p:txBody>
      </p:sp>
      <p:pic>
        <p:nvPicPr>
          <p:cNvPr id="6" name="Image 0" descr="preencoded.png"/>
          <p:cNvPicPr>
            <a:picLocks noChangeAspect="1"/>
          </p:cNvPicPr>
          <p:nvPr/>
        </p:nvPicPr>
        <p:blipFill>
          <a:blip r:embed="rId3"/>
          <a:stretch>
            <a:fillRect/>
          </a:stretch>
        </p:blipFill>
        <p:spPr>
          <a:xfrm>
            <a:off x="400188" y="1855694"/>
            <a:ext cx="3975762" cy="481342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291994" y="249001"/>
            <a:ext cx="3652109" cy="604838"/>
          </a:xfrm>
          <a:prstGeom prst="rect">
            <a:avLst/>
          </a:prstGeom>
          <a:noFill/>
          <a:ln/>
        </p:spPr>
        <p:txBody>
          <a:bodyPr wrap="none" lIns="0" tIns="0" rIns="0" bIns="0" rtlCol="0" anchor="t"/>
          <a:lstStyle/>
          <a:p>
            <a:pPr marL="0" indent="0" algn="l">
              <a:lnSpc>
                <a:spcPct val="104000"/>
              </a:lnSpc>
              <a:buNone/>
            </a:pPr>
            <a:r>
              <a:rPr lang="en-US" sz="3700" b="1" u="dbl" dirty="0">
                <a:solidFill>
                  <a:srgbClr val="312F2B"/>
                </a:solidFill>
                <a:uFill>
                  <a:solidFill>
                    <a:schemeClr val="tx1">
                      <a:lumMod val="85000"/>
                      <a:lumOff val="15000"/>
                    </a:schemeClr>
                  </a:solidFill>
                </a:uFill>
                <a:latin typeface="Gelasio" pitchFamily="34" charset="0"/>
                <a:ea typeface="Gelasio" pitchFamily="34" charset="-122"/>
                <a:cs typeface="Gelasio" pitchFamily="34" charset="-120"/>
              </a:rPr>
              <a:t>Project Objective:</a:t>
            </a:r>
            <a:endParaRPr lang="en-US" sz="3700" b="1" u="dbl" dirty="0">
              <a:uFill>
                <a:solidFill>
                  <a:schemeClr val="tx1">
                    <a:lumMod val="85000"/>
                    <a:lumOff val="15000"/>
                  </a:schemeClr>
                </a:solidFill>
              </a:uFill>
            </a:endParaRPr>
          </a:p>
        </p:txBody>
      </p:sp>
      <p:sp>
        <p:nvSpPr>
          <p:cNvPr id="14" name="TextBox 13">
            <a:extLst>
              <a:ext uri="{FF2B5EF4-FFF2-40B4-BE49-F238E27FC236}">
                <a16:creationId xmlns:a16="http://schemas.microsoft.com/office/drawing/2014/main" id="{6FBB0C8F-7C38-84EC-FA67-41901854D786}"/>
              </a:ext>
            </a:extLst>
          </p:cNvPr>
          <p:cNvSpPr txBox="1"/>
          <p:nvPr/>
        </p:nvSpPr>
        <p:spPr>
          <a:xfrm>
            <a:off x="381641" y="1004570"/>
            <a:ext cx="5804006" cy="5078313"/>
          </a:xfrm>
          <a:prstGeom prst="rect">
            <a:avLst/>
          </a:prstGeom>
          <a:noFill/>
        </p:spPr>
        <p:txBody>
          <a:bodyPr wrap="square">
            <a:spAutoFit/>
          </a:bodyPr>
          <a:lstStyle/>
          <a:p>
            <a:r>
              <a:rPr lang="en-IN" b="1" dirty="0">
                <a:latin typeface="Bookman Old Style" panose="02050604050505020204" pitchFamily="18" charset="0"/>
              </a:rPr>
              <a:t>The objective of this project is to develop an Inventory &amp; Supply Chain Tracker with Reorder Alerts using historical retail sales and inventory data. The project analyses sales, inventory levels, demand forecasts, product categories and regional performance to identify inventory risks and replenishment requirements.</a:t>
            </a:r>
          </a:p>
          <a:p>
            <a:endParaRPr lang="en-IN" b="1" dirty="0">
              <a:latin typeface="Bookman Old Style" panose="02050604050505020204" pitchFamily="18" charset="0"/>
            </a:endParaRPr>
          </a:p>
          <a:p>
            <a:r>
              <a:rPr lang="en-IN" b="1" dirty="0">
                <a:latin typeface="Bookman Old Style" panose="02050604050505020204" pitchFamily="18" charset="0"/>
              </a:rPr>
              <a:t>The solution provides interactive dashboards and KPIs that help users monitor inventory health, understand demand patterns and prioritize reorder decisions.</a:t>
            </a:r>
          </a:p>
          <a:p>
            <a:endParaRPr lang="en-IN" b="1" dirty="0">
              <a:latin typeface="Bookman Old Style" panose="02050604050505020204" pitchFamily="18" charset="0"/>
            </a:endParaRPr>
          </a:p>
          <a:p>
            <a:r>
              <a:rPr lang="en-IN" b="1" dirty="0">
                <a:latin typeface="Bookman Old Style" panose="02050604050505020204" pitchFamily="18" charset="0"/>
              </a:rPr>
              <a:t>The overall goal is to support data-driven inventory planning, reduce stockout and overstocking risks, and improve operational efficiency.</a:t>
            </a:r>
          </a:p>
        </p:txBody>
      </p:sp>
      <p:pic>
        <p:nvPicPr>
          <p:cNvPr id="15" name="Image 0" descr="preencoded.png"/>
          <p:cNvPicPr>
            <a:picLocks noChangeAspect="1"/>
          </p:cNvPicPr>
          <p:nvPr/>
        </p:nvPicPr>
        <p:blipFill>
          <a:blip r:embed="rId3"/>
          <a:stretch>
            <a:fillRect/>
          </a:stretch>
        </p:blipFill>
        <p:spPr>
          <a:xfrm>
            <a:off x="6096000" y="1569320"/>
            <a:ext cx="4036030" cy="504663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394C0A8-52DA-AAAB-F0C5-641873FAD2E5}"/>
              </a:ext>
            </a:extLst>
          </p:cNvPr>
          <p:cNvSpPr txBox="1"/>
          <p:nvPr/>
        </p:nvSpPr>
        <p:spPr>
          <a:xfrm>
            <a:off x="204710" y="136391"/>
            <a:ext cx="5873527" cy="661720"/>
          </a:xfrm>
          <a:prstGeom prst="rect">
            <a:avLst/>
          </a:prstGeom>
          <a:noFill/>
        </p:spPr>
        <p:txBody>
          <a:bodyPr wrap="square" rtlCol="0">
            <a:spAutoFit/>
          </a:bodyPr>
          <a:lstStyle/>
          <a:p>
            <a:r>
              <a:rPr lang="en-IN" sz="3700" b="1" u="dbl" dirty="0">
                <a:solidFill>
                  <a:srgbClr val="312F2B"/>
                </a:solidFill>
                <a:uFill>
                  <a:solidFill>
                    <a:schemeClr val="tx1">
                      <a:lumMod val="85000"/>
                      <a:lumOff val="15000"/>
                    </a:schemeClr>
                  </a:solidFill>
                </a:uFill>
                <a:latin typeface="Gelasio" pitchFamily="34" charset="0"/>
                <a:cs typeface="Gelasio" pitchFamily="34" charset="-120"/>
              </a:rPr>
              <a:t>DATASET DESCRIPTION:</a:t>
            </a:r>
          </a:p>
        </p:txBody>
      </p:sp>
      <p:sp>
        <p:nvSpPr>
          <p:cNvPr id="5" name="TextBox 4">
            <a:extLst>
              <a:ext uri="{FF2B5EF4-FFF2-40B4-BE49-F238E27FC236}">
                <a16:creationId xmlns:a16="http://schemas.microsoft.com/office/drawing/2014/main" id="{20171101-BE06-F321-807D-CC607B359129}"/>
              </a:ext>
            </a:extLst>
          </p:cNvPr>
          <p:cNvSpPr txBox="1"/>
          <p:nvPr/>
        </p:nvSpPr>
        <p:spPr>
          <a:xfrm>
            <a:off x="1172836" y="974380"/>
            <a:ext cx="6155061" cy="3416320"/>
          </a:xfrm>
          <a:prstGeom prst="rect">
            <a:avLst/>
          </a:prstGeom>
          <a:noFill/>
        </p:spPr>
        <p:txBody>
          <a:bodyPr wrap="square" rtlCol="0">
            <a:spAutoFit/>
          </a:bodyPr>
          <a:lstStyle/>
          <a:p>
            <a:pPr lvl="0"/>
            <a:r>
              <a:rPr lang="en-US" dirty="0">
                <a:latin typeface="Bahnschrift SemiBold" panose="020B0502040204020203" pitchFamily="34" charset="0"/>
              </a:rPr>
              <a:t>The project uses a historical retail inventory and sales dataset obtained from Kaggle. The dataset contains information related to products, stores, categories, dates, sales, inventory levels, units ordered, pricing, discounts, promotions, seasonality, weather conditions and demand forecasting. The dataset was cleaned and transformed before analysis. Additional calculated fields were created to support sales analysis, inventory risk classification, reorder alerts and forecast evaluation. The historical nature of the dataset allows the project to identify patterns that can support better future inventory and replenishment decisions.</a:t>
            </a:r>
            <a:endParaRPr lang="en-IN" dirty="0">
              <a:latin typeface="Bahnschrift SemiBold" panose="020B0502040204020203" pitchFamily="34" charset="0"/>
            </a:endParaRPr>
          </a:p>
        </p:txBody>
      </p:sp>
      <p:sp>
        <p:nvSpPr>
          <p:cNvPr id="7" name="Oval 6">
            <a:extLst>
              <a:ext uri="{FF2B5EF4-FFF2-40B4-BE49-F238E27FC236}">
                <a16:creationId xmlns:a16="http://schemas.microsoft.com/office/drawing/2014/main" id="{B2194BAE-12DC-5483-1C60-B20A23C28109}"/>
              </a:ext>
            </a:extLst>
          </p:cNvPr>
          <p:cNvSpPr/>
          <p:nvPr/>
        </p:nvSpPr>
        <p:spPr>
          <a:xfrm>
            <a:off x="199369" y="5269128"/>
            <a:ext cx="1946934" cy="1157673"/>
          </a:xfrm>
          <a:prstGeom prst="ellipse">
            <a:avLst/>
          </a:prstGeom>
          <a:solidFill>
            <a:srgbClr val="C00000"/>
          </a:solidFill>
          <a:effectLst>
            <a:outerShdw blurRad="76200" dir="13500000" sy="23000" kx="1200000" algn="br" rotWithShape="0">
              <a:prstClr val="black">
                <a:alpha val="20000"/>
              </a:prstClr>
            </a:outerShdw>
          </a:effectLst>
          <a:scene3d>
            <a:camera prst="perspectiveContrastingRightFacing"/>
            <a:lightRig rig="threePt" dir="t"/>
          </a:scene3d>
        </p:spPr>
        <p:style>
          <a:lnRef idx="1">
            <a:schemeClr val="accent4"/>
          </a:lnRef>
          <a:fillRef idx="2">
            <a:schemeClr val="accent4"/>
          </a:fillRef>
          <a:effectRef idx="1">
            <a:schemeClr val="accent4"/>
          </a:effectRef>
          <a:fontRef idx="minor">
            <a:schemeClr val="dk1"/>
          </a:fontRef>
        </p:style>
        <p:txBody>
          <a:bodyPr rtlCol="0" anchor="ctr"/>
          <a:lstStyle/>
          <a:p>
            <a:pPr algn="ctr"/>
            <a:r>
              <a:rPr lang="en-IN" b="1" dirty="0">
                <a:solidFill>
                  <a:schemeClr val="tx1"/>
                </a:solidFill>
              </a:rPr>
              <a:t>Higher Stock Availability</a:t>
            </a:r>
          </a:p>
        </p:txBody>
      </p:sp>
      <p:sp>
        <p:nvSpPr>
          <p:cNvPr id="8" name="Oval 7">
            <a:extLst>
              <a:ext uri="{FF2B5EF4-FFF2-40B4-BE49-F238E27FC236}">
                <a16:creationId xmlns:a16="http://schemas.microsoft.com/office/drawing/2014/main" id="{FD14087F-F2DC-F3C2-7B59-0A5DA08D013F}"/>
              </a:ext>
            </a:extLst>
          </p:cNvPr>
          <p:cNvSpPr/>
          <p:nvPr/>
        </p:nvSpPr>
        <p:spPr>
          <a:xfrm>
            <a:off x="3053341" y="5274353"/>
            <a:ext cx="2074469" cy="1063013"/>
          </a:xfrm>
          <a:prstGeom prst="ellipse">
            <a:avLst/>
          </a:prstGeom>
          <a:solidFill>
            <a:schemeClr val="accent5">
              <a:lumMod val="60000"/>
              <a:lumOff val="40000"/>
            </a:schemeClr>
          </a:solidFill>
          <a:ln/>
          <a:effectLst>
            <a:outerShdw blurRad="76200" dir="13500000" sy="23000" kx="1200000" algn="br" rotWithShape="0">
              <a:prstClr val="black">
                <a:alpha val="20000"/>
              </a:prstClr>
            </a:outerShdw>
          </a:effectLst>
          <a:scene3d>
            <a:camera prst="perspectiveContrastingRightFacing"/>
            <a:lightRig rig="threePt" dir="t"/>
          </a:scene3d>
        </p:spPr>
        <p:style>
          <a:lnRef idx="1">
            <a:schemeClr val="accent1"/>
          </a:lnRef>
          <a:fillRef idx="2">
            <a:schemeClr val="accent1"/>
          </a:fillRef>
          <a:effectRef idx="1">
            <a:schemeClr val="accent1"/>
          </a:effectRef>
          <a:fontRef idx="minor">
            <a:schemeClr val="dk1"/>
          </a:fontRef>
        </p:style>
        <p:txBody>
          <a:bodyPr rtlCol="0" anchor="ctr"/>
          <a:lstStyle/>
          <a:p>
            <a:pPr algn="ctr"/>
            <a:r>
              <a:rPr lang="en-IN" b="1" dirty="0"/>
              <a:t>Reduced Excess Inventory</a:t>
            </a:r>
          </a:p>
        </p:txBody>
      </p:sp>
      <p:sp>
        <p:nvSpPr>
          <p:cNvPr id="11" name="Oval 10">
            <a:extLst>
              <a:ext uri="{FF2B5EF4-FFF2-40B4-BE49-F238E27FC236}">
                <a16:creationId xmlns:a16="http://schemas.microsoft.com/office/drawing/2014/main" id="{19289632-BA63-1745-C9D1-FE7125ECC2B0}"/>
              </a:ext>
            </a:extLst>
          </p:cNvPr>
          <p:cNvSpPr/>
          <p:nvPr/>
        </p:nvSpPr>
        <p:spPr>
          <a:xfrm>
            <a:off x="5933437" y="5326019"/>
            <a:ext cx="1803783" cy="959680"/>
          </a:xfrm>
          <a:prstGeom prst="ellipse">
            <a:avLst/>
          </a:prstGeom>
          <a:ln/>
          <a:effectLst>
            <a:outerShdw blurRad="76200" dir="13500000" sy="23000" kx="1200000" algn="br" rotWithShape="0">
              <a:prstClr val="black">
                <a:alpha val="20000"/>
              </a:prstClr>
            </a:outerShdw>
          </a:effectLst>
          <a:scene3d>
            <a:camera prst="perspectiveContrastingRightFacing"/>
            <a:lightRig rig="threePt" dir="tl"/>
          </a:scene3d>
          <a:sp3d prstMaterial="plastic">
            <a:bevelT w="0" h="0"/>
          </a:sp3d>
        </p:spPr>
        <p:style>
          <a:lnRef idx="0">
            <a:schemeClr val="accent6"/>
          </a:lnRef>
          <a:fillRef idx="3">
            <a:schemeClr val="accent6"/>
          </a:fillRef>
          <a:effectRef idx="3">
            <a:schemeClr val="accent6"/>
          </a:effectRef>
          <a:fontRef idx="minor">
            <a:schemeClr val="lt1"/>
          </a:fontRef>
        </p:style>
        <p:txBody>
          <a:bodyPr rtlCol="0" anchor="ctr"/>
          <a:lstStyle/>
          <a:p>
            <a:pPr algn="ctr"/>
            <a:r>
              <a:rPr lang="en-IN" b="1" dirty="0">
                <a:solidFill>
                  <a:schemeClr val="tx1">
                    <a:lumMod val="95000"/>
                    <a:lumOff val="5000"/>
                  </a:schemeClr>
                </a:solidFill>
              </a:rPr>
              <a:t>Better Revenue</a:t>
            </a:r>
          </a:p>
        </p:txBody>
      </p:sp>
      <p:sp>
        <p:nvSpPr>
          <p:cNvPr id="13" name="Rectangle: Rounded Corners 12">
            <a:extLst>
              <a:ext uri="{FF2B5EF4-FFF2-40B4-BE49-F238E27FC236}">
                <a16:creationId xmlns:a16="http://schemas.microsoft.com/office/drawing/2014/main" id="{647412AF-56B4-4963-6D36-9E879E5A8F16}"/>
              </a:ext>
            </a:extLst>
          </p:cNvPr>
          <p:cNvSpPr/>
          <p:nvPr/>
        </p:nvSpPr>
        <p:spPr>
          <a:xfrm>
            <a:off x="8383457" y="5336518"/>
            <a:ext cx="2392117" cy="949181"/>
          </a:xfrm>
          <a:prstGeom prst="roundRect">
            <a:avLst>
              <a:gd name="adj" fmla="val 50000"/>
            </a:avLst>
          </a:prstGeom>
          <a:ln/>
          <a:effectLst>
            <a:outerShdw blurRad="76200" dir="13500000" sy="23000" kx="1200000" algn="br" rotWithShape="0">
              <a:prstClr val="black">
                <a:alpha val="20000"/>
              </a:prstClr>
            </a:outerShdw>
          </a:effectLst>
          <a:scene3d>
            <a:camera prst="perspectiveContrastingRightFacing"/>
            <a:lightRig rig="threePt" dir="tl"/>
          </a:scene3d>
          <a:sp3d prstMaterial="plastic">
            <a:bevelT w="0" h="0"/>
          </a:sp3d>
        </p:spPr>
        <p:style>
          <a:lnRef idx="0">
            <a:schemeClr val="accent4"/>
          </a:lnRef>
          <a:fillRef idx="3">
            <a:schemeClr val="accent4"/>
          </a:fillRef>
          <a:effectRef idx="3">
            <a:schemeClr val="accent4"/>
          </a:effectRef>
          <a:fontRef idx="minor">
            <a:schemeClr val="lt1"/>
          </a:fontRef>
        </p:style>
        <p:txBody>
          <a:bodyPr rtlCol="0" anchor="ctr"/>
          <a:lstStyle/>
          <a:p>
            <a:pPr algn="ctr"/>
            <a:r>
              <a:rPr lang="en-IN" b="1" dirty="0">
                <a:solidFill>
                  <a:schemeClr val="tx1">
                    <a:lumMod val="95000"/>
                    <a:lumOff val="5000"/>
                  </a:schemeClr>
                </a:solidFill>
              </a:rPr>
              <a:t>Improved Operational Efficiency</a:t>
            </a:r>
          </a:p>
        </p:txBody>
      </p:sp>
      <p:sp>
        <p:nvSpPr>
          <p:cNvPr id="14" name="Arrow: Chevron 13">
            <a:extLst>
              <a:ext uri="{FF2B5EF4-FFF2-40B4-BE49-F238E27FC236}">
                <a16:creationId xmlns:a16="http://schemas.microsoft.com/office/drawing/2014/main" id="{605E77A9-AD81-F6B3-D033-03F3D0AE7988}"/>
              </a:ext>
            </a:extLst>
          </p:cNvPr>
          <p:cNvSpPr/>
          <p:nvPr/>
        </p:nvSpPr>
        <p:spPr>
          <a:xfrm>
            <a:off x="2279624" y="5593582"/>
            <a:ext cx="570782" cy="484632"/>
          </a:xfrm>
          <a:prstGeom prst="chevron">
            <a:avLst/>
          </a:prstGeom>
          <a:solidFill>
            <a:schemeClr val="accent1">
              <a:lumMod val="7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solidFill>
                <a:schemeClr val="tx1"/>
              </a:solidFill>
            </a:endParaRPr>
          </a:p>
        </p:txBody>
      </p:sp>
      <p:sp>
        <p:nvSpPr>
          <p:cNvPr id="22" name="Arrow: Chevron 21">
            <a:extLst>
              <a:ext uri="{FF2B5EF4-FFF2-40B4-BE49-F238E27FC236}">
                <a16:creationId xmlns:a16="http://schemas.microsoft.com/office/drawing/2014/main" id="{00EF269B-E75A-A9ED-AE98-8E233726EB30}"/>
              </a:ext>
            </a:extLst>
          </p:cNvPr>
          <p:cNvSpPr/>
          <p:nvPr/>
        </p:nvSpPr>
        <p:spPr>
          <a:xfrm>
            <a:off x="7653286" y="5593582"/>
            <a:ext cx="570782" cy="484632"/>
          </a:xfrm>
          <a:prstGeom prst="chevron">
            <a:avLst/>
          </a:prstGeom>
          <a:solidFill>
            <a:schemeClr val="accent1">
              <a:lumMod val="7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solidFill>
                <a:schemeClr val="tx1"/>
              </a:solidFill>
            </a:endParaRPr>
          </a:p>
        </p:txBody>
      </p:sp>
      <p:sp>
        <p:nvSpPr>
          <p:cNvPr id="24" name="Arrow: Chevron 23">
            <a:extLst>
              <a:ext uri="{FF2B5EF4-FFF2-40B4-BE49-F238E27FC236}">
                <a16:creationId xmlns:a16="http://schemas.microsoft.com/office/drawing/2014/main" id="{24342B0E-56F0-EE1B-F533-851EA2AD07C5}"/>
              </a:ext>
            </a:extLst>
          </p:cNvPr>
          <p:cNvSpPr/>
          <p:nvPr/>
        </p:nvSpPr>
        <p:spPr>
          <a:xfrm>
            <a:off x="5203265" y="5593582"/>
            <a:ext cx="570782" cy="484632"/>
          </a:xfrm>
          <a:prstGeom prst="chevron">
            <a:avLst/>
          </a:prstGeom>
          <a:solidFill>
            <a:schemeClr val="accent1">
              <a:lumMod val="7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solidFill>
                <a:schemeClr val="tx1"/>
              </a:solidFill>
            </a:endParaRPr>
          </a:p>
        </p:txBody>
      </p:sp>
      <p:sp>
        <p:nvSpPr>
          <p:cNvPr id="3" name="TextBox 2">
            <a:extLst>
              <a:ext uri="{FF2B5EF4-FFF2-40B4-BE49-F238E27FC236}">
                <a16:creationId xmlns:a16="http://schemas.microsoft.com/office/drawing/2014/main" id="{02D79347-2519-C025-DEB4-1BD5FD7E6957}"/>
              </a:ext>
            </a:extLst>
          </p:cNvPr>
          <p:cNvSpPr txBox="1"/>
          <p:nvPr/>
        </p:nvSpPr>
        <p:spPr>
          <a:xfrm>
            <a:off x="204710" y="4807475"/>
            <a:ext cx="3144466" cy="369332"/>
          </a:xfrm>
          <a:prstGeom prst="rect">
            <a:avLst/>
          </a:prstGeom>
          <a:noFill/>
        </p:spPr>
        <p:txBody>
          <a:bodyPr wrap="square">
            <a:spAutoFit/>
          </a:bodyPr>
          <a:lstStyle/>
          <a:p>
            <a:r>
              <a:rPr lang="en-IN" dirty="0">
                <a:solidFill>
                  <a:schemeClr val="bg1"/>
                </a:solidFill>
                <a:highlight>
                  <a:srgbClr val="800000"/>
                </a:highlight>
                <a:latin typeface="Bookman Old Style" panose="02050604050505020204" pitchFamily="18" charset="0"/>
              </a:rPr>
              <a:t>Expected Business Impact</a:t>
            </a:r>
          </a:p>
        </p:txBody>
      </p:sp>
      <p:pic>
        <p:nvPicPr>
          <p:cNvPr id="2" name="Image 0" descr="preencoded.png"/>
          <p:cNvPicPr>
            <a:picLocks noChangeAspect="1"/>
          </p:cNvPicPr>
          <p:nvPr/>
        </p:nvPicPr>
        <p:blipFill>
          <a:blip r:embed="rId2"/>
          <a:stretch>
            <a:fillRect/>
          </a:stretch>
        </p:blipFill>
        <p:spPr>
          <a:xfrm>
            <a:off x="8260758" y="-57140"/>
            <a:ext cx="3504219" cy="3504307"/>
          </a:xfrm>
          <a:prstGeom prst="rect">
            <a:avLst/>
          </a:prstGeom>
        </p:spPr>
      </p:pic>
    </p:spTree>
    <p:extLst>
      <p:ext uri="{BB962C8B-B14F-4D97-AF65-F5344CB8AC3E}">
        <p14:creationId xmlns:p14="http://schemas.microsoft.com/office/powerpoint/2010/main" val="26531821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nvSpPr>
        <p:spPr>
          <a:xfrm>
            <a:off x="268940" y="168239"/>
            <a:ext cx="3441823" cy="875494"/>
          </a:xfrm>
          <a:prstGeom prst="rect">
            <a:avLst/>
          </a:prstGeom>
          <a:noFill/>
          <a:ln/>
        </p:spPr>
        <p:txBody>
          <a:bodyPr wrap="square" lIns="0" tIns="0" rIns="0" bIns="0" rtlCol="0" anchor="t">
            <a:normAutofit fontScale="70000" lnSpcReduction="20000"/>
          </a:bodyPr>
          <a:lstStyle/>
          <a:p>
            <a:pPr>
              <a:lnSpc>
                <a:spcPct val="124000"/>
              </a:lnSpc>
            </a:pPr>
            <a:r>
              <a:rPr lang="en-US" sz="3700" b="1" u="dbl" dirty="0">
                <a:solidFill>
                  <a:srgbClr val="312F2B"/>
                </a:solidFill>
                <a:uFill>
                  <a:solidFill>
                    <a:schemeClr val="tx1">
                      <a:lumMod val="85000"/>
                      <a:lumOff val="15000"/>
                    </a:schemeClr>
                  </a:solidFill>
                </a:uFill>
                <a:latin typeface="Gelasio" pitchFamily="34" charset="0"/>
                <a:cs typeface="Gelasio" pitchFamily="34" charset="-120"/>
              </a:rPr>
              <a:t>Data Cleaning </a:t>
            </a:r>
          </a:p>
          <a:p>
            <a:pPr>
              <a:lnSpc>
                <a:spcPct val="124000"/>
              </a:lnSpc>
            </a:pPr>
            <a:r>
              <a:rPr lang="en-US" sz="3700" b="1" dirty="0">
                <a:solidFill>
                  <a:srgbClr val="312F2B"/>
                </a:solidFill>
                <a:uFill>
                  <a:solidFill>
                    <a:schemeClr val="tx1">
                      <a:lumMod val="85000"/>
                      <a:lumOff val="15000"/>
                    </a:schemeClr>
                  </a:solidFill>
                </a:uFill>
                <a:latin typeface="Gelasio" pitchFamily="34" charset="0"/>
                <a:cs typeface="Gelasio" pitchFamily="34" charset="-120"/>
              </a:rPr>
              <a:t>             </a:t>
            </a:r>
            <a:r>
              <a:rPr lang="en-US" sz="3700" b="1" u="dbl" dirty="0">
                <a:solidFill>
                  <a:srgbClr val="312F2B"/>
                </a:solidFill>
                <a:uFill>
                  <a:solidFill>
                    <a:schemeClr val="tx1">
                      <a:lumMod val="85000"/>
                      <a:lumOff val="15000"/>
                    </a:schemeClr>
                  </a:solidFill>
                </a:uFill>
                <a:latin typeface="Gelasio" pitchFamily="34" charset="0"/>
                <a:cs typeface="Gelasio" pitchFamily="34" charset="-120"/>
              </a:rPr>
              <a:t>&amp; Methodology:</a:t>
            </a:r>
          </a:p>
        </p:txBody>
      </p:sp>
      <p:pic>
        <p:nvPicPr>
          <p:cNvPr id="4"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1526" y="1131426"/>
            <a:ext cx="4038387" cy="3524868"/>
          </a:xfrm>
          <a:prstGeom prst="rect">
            <a:avLst/>
          </a:prstGeom>
        </p:spPr>
      </p:pic>
      <p:sp>
        <p:nvSpPr>
          <p:cNvPr id="5" name="Text 1"/>
          <p:cNvSpPr/>
          <p:nvPr/>
        </p:nvSpPr>
        <p:spPr>
          <a:xfrm>
            <a:off x="1224001" y="1217219"/>
            <a:ext cx="1753436" cy="295275"/>
          </a:xfrm>
          <a:prstGeom prst="rect">
            <a:avLst/>
          </a:prstGeom>
          <a:noFill/>
          <a:ln/>
        </p:spPr>
        <p:txBody>
          <a:bodyPr wrap="none" lIns="0" tIns="0" rIns="0" bIns="0" rtlCol="0" anchor="t"/>
          <a:lstStyle/>
          <a:p>
            <a:pPr>
              <a:lnSpc>
                <a:spcPct val="104000"/>
              </a:lnSpc>
            </a:pPr>
            <a:r>
              <a:rPr lang="en-IN" b="1" dirty="0">
                <a:latin typeface="Bookman Old Style" panose="02050604050505020204" pitchFamily="18" charset="0"/>
              </a:rPr>
              <a:t>Data Collection</a:t>
            </a:r>
            <a:endParaRPr lang="en-US" b="1" dirty="0">
              <a:latin typeface="Bookman Old Style" panose="02050604050505020204" pitchFamily="18" charset="0"/>
            </a:endParaRPr>
          </a:p>
        </p:txBody>
      </p:sp>
      <p:pic>
        <p:nvPicPr>
          <p:cNvPr id="7" name="Image 2"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191513" y="159139"/>
            <a:ext cx="4737596" cy="4525135"/>
          </a:xfrm>
          <a:prstGeom prst="rect">
            <a:avLst/>
          </a:prstGeom>
        </p:spPr>
      </p:pic>
      <p:sp>
        <p:nvSpPr>
          <p:cNvPr id="8" name="Text 3"/>
          <p:cNvSpPr/>
          <p:nvPr/>
        </p:nvSpPr>
        <p:spPr>
          <a:xfrm>
            <a:off x="5697762" y="247928"/>
            <a:ext cx="1725097" cy="295275"/>
          </a:xfrm>
          <a:prstGeom prst="rect">
            <a:avLst/>
          </a:prstGeom>
          <a:noFill/>
          <a:ln/>
        </p:spPr>
        <p:txBody>
          <a:bodyPr wrap="none" lIns="0" tIns="0" rIns="0" bIns="0" rtlCol="0" anchor="t"/>
          <a:lstStyle/>
          <a:p>
            <a:pPr algn="ctr">
              <a:lnSpc>
                <a:spcPct val="104000"/>
              </a:lnSpc>
            </a:pPr>
            <a:r>
              <a:rPr lang="en-IN" b="1" dirty="0">
                <a:latin typeface="Bookman Old Style" panose="02050604050505020204" pitchFamily="18" charset="0"/>
              </a:rPr>
              <a:t>Data</a:t>
            </a:r>
            <a:r>
              <a:rPr lang="en-IN" sz="2000" dirty="0"/>
              <a:t> </a:t>
            </a:r>
            <a:r>
              <a:rPr lang="en-IN" b="1" dirty="0">
                <a:latin typeface="Bookman Old Style" panose="02050604050505020204" pitchFamily="18" charset="0"/>
              </a:rPr>
              <a:t>Cleaning</a:t>
            </a:r>
            <a:endParaRPr lang="en-US" b="1" dirty="0">
              <a:latin typeface="Bookman Old Style" panose="02050604050505020204" pitchFamily="18" charset="0"/>
            </a:endParaRPr>
          </a:p>
        </p:txBody>
      </p:sp>
      <p:pic>
        <p:nvPicPr>
          <p:cNvPr id="10" name="Image 3"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050303" y="127246"/>
            <a:ext cx="3067265" cy="3524868"/>
          </a:xfrm>
          <a:prstGeom prst="rect">
            <a:avLst/>
          </a:prstGeom>
        </p:spPr>
      </p:pic>
      <p:sp>
        <p:nvSpPr>
          <p:cNvPr id="11" name="Text 5"/>
          <p:cNvSpPr/>
          <p:nvPr/>
        </p:nvSpPr>
        <p:spPr>
          <a:xfrm>
            <a:off x="9293860" y="213875"/>
            <a:ext cx="2388099" cy="297430"/>
          </a:xfrm>
          <a:prstGeom prst="rect">
            <a:avLst/>
          </a:prstGeom>
          <a:noFill/>
          <a:ln/>
        </p:spPr>
        <p:txBody>
          <a:bodyPr wrap="none" lIns="0" tIns="0" rIns="0" bIns="0" rtlCol="0" anchor="t"/>
          <a:lstStyle/>
          <a:p>
            <a:pPr algn="ctr">
              <a:lnSpc>
                <a:spcPct val="104000"/>
              </a:lnSpc>
            </a:pPr>
            <a:r>
              <a:rPr lang="en-IN" sz="1600" b="1" dirty="0">
                <a:latin typeface="Bookman Old Style" panose="02050604050505020204" pitchFamily="18" charset="0"/>
              </a:rPr>
              <a:t>Data Transformation</a:t>
            </a:r>
            <a:endParaRPr lang="en-US" sz="1600" b="1" dirty="0">
              <a:latin typeface="Bookman Old Style" panose="02050604050505020204" pitchFamily="18" charset="0"/>
            </a:endParaRPr>
          </a:p>
        </p:txBody>
      </p:sp>
      <p:sp>
        <p:nvSpPr>
          <p:cNvPr id="12" name="Text 6"/>
          <p:cNvSpPr/>
          <p:nvPr/>
        </p:nvSpPr>
        <p:spPr>
          <a:xfrm>
            <a:off x="9232060" y="698160"/>
            <a:ext cx="2792244" cy="2953954"/>
          </a:xfrm>
          <a:prstGeom prst="rect">
            <a:avLst/>
          </a:prstGeom>
          <a:noFill/>
          <a:ln/>
        </p:spPr>
        <p:txBody>
          <a:bodyPr wrap="square" lIns="0" tIns="0" rIns="0" bIns="0" rtlCol="0" anchor="t">
            <a:normAutofit fontScale="92500"/>
          </a:bodyPr>
          <a:lstStyle/>
          <a:p>
            <a:pPr defTabSz="914400" eaLnBrk="0" fontAlgn="base" hangingPunct="0">
              <a:spcBef>
                <a:spcPct val="0"/>
              </a:spcBef>
              <a:spcAft>
                <a:spcPct val="0"/>
              </a:spcAft>
            </a:pPr>
            <a:r>
              <a:rPr lang="en-US" dirty="0">
                <a:latin typeface="Bookman Old Style" panose="02050604050505020204" pitchFamily="18" charset="0"/>
              </a:rPr>
              <a:t>Created calculated fields required for business analysis:</a:t>
            </a:r>
          </a:p>
          <a:p>
            <a:pPr defTabSz="914400" eaLnBrk="0" fontAlgn="base" hangingPunct="0">
              <a:spcBef>
                <a:spcPct val="0"/>
              </a:spcBef>
              <a:spcAft>
                <a:spcPct val="0"/>
              </a:spcAft>
            </a:pPr>
            <a:endParaRPr lang="en-US" dirty="0">
              <a:latin typeface="Bookman Old Style" panose="02050604050505020204" pitchFamily="18" charset="0"/>
            </a:endParaRPr>
          </a:p>
          <a:p>
            <a:pPr defTabSz="914400" eaLnBrk="0" fontAlgn="base" hangingPunct="0">
              <a:spcBef>
                <a:spcPct val="0"/>
              </a:spcBef>
              <a:spcAft>
                <a:spcPct val="0"/>
              </a:spcAft>
              <a:buFont typeface="+mj-lt"/>
              <a:buAutoNum type="alphaLcPeriod"/>
            </a:pPr>
            <a:r>
              <a:rPr lang="en-US" dirty="0">
                <a:latin typeface="Bookman Old Style" panose="02050604050505020204" pitchFamily="18" charset="0"/>
              </a:rPr>
              <a:t>Gross Sales </a:t>
            </a:r>
          </a:p>
          <a:p>
            <a:pPr defTabSz="914400" eaLnBrk="0" fontAlgn="base" hangingPunct="0">
              <a:spcBef>
                <a:spcPct val="0"/>
              </a:spcBef>
              <a:spcAft>
                <a:spcPct val="0"/>
              </a:spcAft>
              <a:buFont typeface="+mj-lt"/>
              <a:buAutoNum type="alphaLcPeriod"/>
            </a:pPr>
            <a:r>
              <a:rPr lang="en-US" dirty="0">
                <a:latin typeface="Bookman Old Style" panose="02050604050505020204" pitchFamily="18" charset="0"/>
              </a:rPr>
              <a:t>Discount Amount </a:t>
            </a:r>
          </a:p>
          <a:p>
            <a:pPr defTabSz="914400" eaLnBrk="0" fontAlgn="base" hangingPunct="0">
              <a:spcBef>
                <a:spcPct val="0"/>
              </a:spcBef>
              <a:spcAft>
                <a:spcPct val="0"/>
              </a:spcAft>
              <a:buFont typeface="+mj-lt"/>
              <a:buAutoNum type="alphaLcPeriod"/>
            </a:pPr>
            <a:r>
              <a:rPr lang="en-US" dirty="0">
                <a:latin typeface="Bookman Old Style" panose="02050604050505020204" pitchFamily="18" charset="0"/>
              </a:rPr>
              <a:t>Net Sales </a:t>
            </a:r>
          </a:p>
          <a:p>
            <a:pPr defTabSz="914400" eaLnBrk="0" fontAlgn="base" hangingPunct="0">
              <a:spcBef>
                <a:spcPct val="0"/>
              </a:spcBef>
              <a:spcAft>
                <a:spcPct val="0"/>
              </a:spcAft>
              <a:buFont typeface="+mj-lt"/>
              <a:buAutoNum type="alphaLcPeriod"/>
            </a:pPr>
            <a:r>
              <a:rPr lang="en-US" dirty="0">
                <a:latin typeface="Bookman Old Style" panose="02050604050505020204" pitchFamily="18" charset="0"/>
              </a:rPr>
              <a:t>Reorder Quantity </a:t>
            </a:r>
          </a:p>
          <a:p>
            <a:pPr defTabSz="914400" eaLnBrk="0" fontAlgn="base" hangingPunct="0">
              <a:spcBef>
                <a:spcPct val="0"/>
              </a:spcBef>
              <a:spcAft>
                <a:spcPct val="0"/>
              </a:spcAft>
              <a:buFont typeface="+mj-lt"/>
              <a:buAutoNum type="alphaLcPeriod"/>
            </a:pPr>
            <a:r>
              <a:rPr lang="en-US" dirty="0">
                <a:latin typeface="Bookman Old Style" panose="02050604050505020204" pitchFamily="18" charset="0"/>
              </a:rPr>
              <a:t>Reorder Alert </a:t>
            </a:r>
          </a:p>
          <a:p>
            <a:pPr defTabSz="914400" eaLnBrk="0" fontAlgn="base" hangingPunct="0">
              <a:spcBef>
                <a:spcPct val="0"/>
              </a:spcBef>
              <a:spcAft>
                <a:spcPct val="0"/>
              </a:spcAft>
              <a:buFont typeface="+mj-lt"/>
              <a:buAutoNum type="alphaLcPeriod"/>
            </a:pPr>
            <a:r>
              <a:rPr lang="en-US" dirty="0">
                <a:latin typeface="Bookman Old Style" panose="02050604050505020204" pitchFamily="18" charset="0"/>
              </a:rPr>
              <a:t>Inventory Status </a:t>
            </a:r>
          </a:p>
          <a:p>
            <a:pPr defTabSz="914400" eaLnBrk="0" fontAlgn="base" hangingPunct="0">
              <a:spcBef>
                <a:spcPct val="0"/>
              </a:spcBef>
              <a:spcAft>
                <a:spcPct val="0"/>
              </a:spcAft>
              <a:buFont typeface="+mj-lt"/>
              <a:buAutoNum type="alphaLcPeriod"/>
            </a:pPr>
            <a:r>
              <a:rPr lang="en-US" dirty="0">
                <a:latin typeface="Bookman Old Style" panose="02050604050505020204" pitchFamily="18" charset="0"/>
              </a:rPr>
              <a:t>Absolute Forecast  Error</a:t>
            </a:r>
          </a:p>
        </p:txBody>
      </p:sp>
      <p:sp>
        <p:nvSpPr>
          <p:cNvPr id="14" name="Rectangle 3">
            <a:extLst>
              <a:ext uri="{FF2B5EF4-FFF2-40B4-BE49-F238E27FC236}">
                <a16:creationId xmlns:a16="http://schemas.microsoft.com/office/drawing/2014/main" id="{B53C56E1-0F5A-F4C7-F54C-2A2C6F3A135F}"/>
              </a:ext>
            </a:extLst>
          </p:cNvPr>
          <p:cNvSpPr>
            <a:spLocks noChangeArrowheads="1"/>
          </p:cNvSpPr>
          <p:nvPr/>
        </p:nvSpPr>
        <p:spPr bwMode="auto">
          <a:xfrm>
            <a:off x="335416" y="1421295"/>
            <a:ext cx="3675433"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dirty="0">
                <a:latin typeface="Bookman Old Style" panose="02050604050505020204" pitchFamily="18" charset="0"/>
              </a:rPr>
              <a:t>Historical retail inventory and sales dataset obtained from Kaggle. </a:t>
            </a:r>
          </a:p>
          <a:p>
            <a:pPr marL="0" marR="0" lvl="0" indent="0" algn="l" defTabSz="914400" rtl="0" eaLnBrk="0" fontAlgn="base" latinLnBrk="0" hangingPunct="0">
              <a:lnSpc>
                <a:spcPct val="100000"/>
              </a:lnSpc>
              <a:spcBef>
                <a:spcPct val="0"/>
              </a:spcBef>
              <a:spcAft>
                <a:spcPct val="0"/>
              </a:spcAft>
              <a:buClrTx/>
              <a:buSzTx/>
              <a:tabLst/>
            </a:pPr>
            <a:endParaRPr lang="en-US" altLang="en-US" dirty="0">
              <a:latin typeface="Bookman Old Style" panose="020506040505050202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dirty="0">
                <a:latin typeface="Bookman Old Style" panose="02050604050505020204" pitchFamily="18" charset="0"/>
              </a:rPr>
              <a:t>Dataset contains information related to products, sales, inventory, orders, pricing, discounts, promotions, region, seasonality, weather and demand forecasting. </a:t>
            </a:r>
          </a:p>
        </p:txBody>
      </p:sp>
      <p:sp>
        <p:nvSpPr>
          <p:cNvPr id="15" name="Rectangle 4">
            <a:extLst>
              <a:ext uri="{FF2B5EF4-FFF2-40B4-BE49-F238E27FC236}">
                <a16:creationId xmlns:a16="http://schemas.microsoft.com/office/drawing/2014/main" id="{37FCF88E-8629-D3B9-87AF-0CC9EFDCC20A}"/>
              </a:ext>
            </a:extLst>
          </p:cNvPr>
          <p:cNvSpPr>
            <a:spLocks noChangeArrowheads="1"/>
          </p:cNvSpPr>
          <p:nvPr/>
        </p:nvSpPr>
        <p:spPr bwMode="auto">
          <a:xfrm>
            <a:off x="4499207" y="546470"/>
            <a:ext cx="4467736" cy="4062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indent="-285750" defTabSz="914400" eaLnBrk="0" fontAlgn="base" hangingPunct="0">
              <a:spcBef>
                <a:spcPct val="0"/>
              </a:spcBef>
              <a:spcAft>
                <a:spcPct val="0"/>
              </a:spcAft>
              <a:buFont typeface="Wingdings" panose="05000000000000000000" pitchFamily="2" charset="2"/>
              <a:buChar char="Ø"/>
            </a:pPr>
            <a:r>
              <a:rPr lang="en-US" altLang="en-US" sz="1600" dirty="0">
                <a:latin typeface="Bookman Old Style" panose="02050604050505020204" pitchFamily="18" charset="0"/>
              </a:rPr>
              <a:t>Checked and standardized data types, especially date and numerical fields.</a:t>
            </a:r>
          </a:p>
          <a:p>
            <a:pPr defTabSz="914400" eaLnBrk="0" fontAlgn="base" hangingPunct="0">
              <a:spcBef>
                <a:spcPct val="0"/>
              </a:spcBef>
              <a:spcAft>
                <a:spcPct val="0"/>
              </a:spcAft>
            </a:pPr>
            <a:r>
              <a:rPr lang="en-US" altLang="en-US" sz="1600" dirty="0">
                <a:latin typeface="Bookman Old Style" panose="02050604050505020204" pitchFamily="18" charset="0"/>
              </a:rPr>
              <a:t> </a:t>
            </a:r>
          </a:p>
          <a:p>
            <a:pPr marL="285750" indent="-285750" defTabSz="914400" eaLnBrk="0" fontAlgn="base" hangingPunct="0">
              <a:spcBef>
                <a:spcPct val="0"/>
              </a:spcBef>
              <a:spcAft>
                <a:spcPct val="0"/>
              </a:spcAft>
              <a:buFont typeface="Wingdings" panose="05000000000000000000" pitchFamily="2" charset="2"/>
              <a:buChar char="Ø"/>
            </a:pPr>
            <a:r>
              <a:rPr lang="en-US" altLang="en-US" sz="1600" dirty="0">
                <a:latin typeface="Bookman Old Style" panose="02050604050505020204" pitchFamily="18" charset="0"/>
              </a:rPr>
              <a:t>Identified and handled missing/invalid values.</a:t>
            </a:r>
          </a:p>
          <a:p>
            <a:pPr defTabSz="914400" eaLnBrk="0" fontAlgn="base" hangingPunct="0">
              <a:spcBef>
                <a:spcPct val="0"/>
              </a:spcBef>
              <a:spcAft>
                <a:spcPct val="0"/>
              </a:spcAft>
            </a:pPr>
            <a:endParaRPr lang="en-US" altLang="en-US" sz="1600" dirty="0">
              <a:latin typeface="Bookman Old Style" panose="02050604050505020204" pitchFamily="18" charset="0"/>
            </a:endParaRPr>
          </a:p>
          <a:p>
            <a:pPr marL="285750" indent="-285750" defTabSz="914400" eaLnBrk="0" fontAlgn="base" hangingPunct="0">
              <a:spcBef>
                <a:spcPct val="0"/>
              </a:spcBef>
              <a:spcAft>
                <a:spcPct val="0"/>
              </a:spcAft>
              <a:buFont typeface="Wingdings" panose="05000000000000000000" pitchFamily="2" charset="2"/>
              <a:buChar char="Ø"/>
            </a:pPr>
            <a:r>
              <a:rPr lang="en-US" altLang="en-US" sz="1600" dirty="0">
                <a:latin typeface="Bookman Old Style" panose="02050604050505020204" pitchFamily="18" charset="0"/>
              </a:rPr>
              <a:t>Checked for duplicate and inconsistent records.</a:t>
            </a:r>
          </a:p>
          <a:p>
            <a:pPr defTabSz="914400" eaLnBrk="0" fontAlgn="base" hangingPunct="0">
              <a:spcBef>
                <a:spcPct val="0"/>
              </a:spcBef>
              <a:spcAft>
                <a:spcPct val="0"/>
              </a:spcAft>
            </a:pPr>
            <a:r>
              <a:rPr lang="en-US" altLang="en-US" sz="1600" dirty="0">
                <a:latin typeface="Bookman Old Style" panose="02050604050505020204" pitchFamily="18" charset="0"/>
              </a:rPr>
              <a:t> </a:t>
            </a:r>
          </a:p>
          <a:p>
            <a:pPr marL="285750" indent="-285750" defTabSz="914400" eaLnBrk="0" fontAlgn="base" hangingPunct="0">
              <a:spcBef>
                <a:spcPct val="0"/>
              </a:spcBef>
              <a:spcAft>
                <a:spcPct val="0"/>
              </a:spcAft>
              <a:buFont typeface="Wingdings" panose="05000000000000000000" pitchFamily="2" charset="2"/>
              <a:buChar char="Ø"/>
            </a:pPr>
            <a:r>
              <a:rPr lang="en-US" altLang="en-US" sz="1600" dirty="0">
                <a:latin typeface="Bookman Old Style" panose="02050604050505020204" pitchFamily="18" charset="0"/>
              </a:rPr>
              <a:t>Standardized categorical values for consistent analysis.</a:t>
            </a:r>
          </a:p>
          <a:p>
            <a:pPr defTabSz="914400" eaLnBrk="0" fontAlgn="base" hangingPunct="0">
              <a:spcBef>
                <a:spcPct val="0"/>
              </a:spcBef>
              <a:spcAft>
                <a:spcPct val="0"/>
              </a:spcAft>
            </a:pPr>
            <a:endParaRPr lang="en-US" altLang="en-US" sz="1600" dirty="0">
              <a:latin typeface="Bookman Old Style" panose="02050604050505020204" pitchFamily="18" charset="0"/>
            </a:endParaRPr>
          </a:p>
          <a:p>
            <a:pPr marL="285750" indent="-285750" defTabSz="914400" eaLnBrk="0" fontAlgn="base" hangingPunct="0">
              <a:spcBef>
                <a:spcPct val="0"/>
              </a:spcBef>
              <a:spcAft>
                <a:spcPct val="0"/>
              </a:spcAft>
              <a:buFont typeface="Wingdings" panose="05000000000000000000" pitchFamily="2" charset="2"/>
              <a:buChar char="Ø"/>
            </a:pPr>
            <a:r>
              <a:rPr lang="en-US" altLang="en-US" sz="1600" dirty="0">
                <a:latin typeface="Bookman Old Style" panose="02050604050505020204" pitchFamily="18" charset="0"/>
              </a:rPr>
              <a:t>Validated numerical fields such as sales, inventory, units sold and units ordered. </a:t>
            </a:r>
          </a:p>
        </p:txBody>
      </p:sp>
      <p:pic>
        <p:nvPicPr>
          <p:cNvPr id="16" name="Image 1" descr="preencoded.png">
            <a:extLst>
              <a:ext uri="{FF2B5EF4-FFF2-40B4-BE49-F238E27FC236}">
                <a16:creationId xmlns:a16="http://schemas.microsoft.com/office/drawing/2014/main" id="{D08324D7-557A-0BA4-2427-F886282A466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9848" y="4765253"/>
            <a:ext cx="9419280" cy="2032996"/>
          </a:xfrm>
          <a:prstGeom prst="rect">
            <a:avLst/>
          </a:prstGeom>
        </p:spPr>
      </p:pic>
      <p:sp>
        <p:nvSpPr>
          <p:cNvPr id="17" name="Text 1">
            <a:extLst>
              <a:ext uri="{FF2B5EF4-FFF2-40B4-BE49-F238E27FC236}">
                <a16:creationId xmlns:a16="http://schemas.microsoft.com/office/drawing/2014/main" id="{B57ECD65-E7E3-9C08-B4E7-B25F20D670E4}"/>
              </a:ext>
            </a:extLst>
          </p:cNvPr>
          <p:cNvSpPr/>
          <p:nvPr/>
        </p:nvSpPr>
        <p:spPr>
          <a:xfrm>
            <a:off x="3736676" y="4874158"/>
            <a:ext cx="2428797" cy="244588"/>
          </a:xfrm>
          <a:prstGeom prst="rect">
            <a:avLst/>
          </a:prstGeom>
          <a:noFill/>
          <a:ln/>
        </p:spPr>
        <p:txBody>
          <a:bodyPr wrap="none" lIns="0" tIns="0" rIns="0" bIns="0" rtlCol="0" anchor="t"/>
          <a:lstStyle/>
          <a:p>
            <a:pPr algn="ctr">
              <a:lnSpc>
                <a:spcPct val="104000"/>
              </a:lnSpc>
            </a:pPr>
            <a:r>
              <a:rPr lang="en-IN" b="1" dirty="0">
                <a:latin typeface="Bookman Old Style" panose="02050604050505020204" pitchFamily="18" charset="0"/>
              </a:rPr>
              <a:t>Analysis Methodology</a:t>
            </a:r>
            <a:endParaRPr lang="en-US" b="1" dirty="0">
              <a:latin typeface="Bookman Old Style" panose="02050604050505020204" pitchFamily="18" charset="0"/>
            </a:endParaRPr>
          </a:p>
        </p:txBody>
      </p:sp>
      <p:sp>
        <p:nvSpPr>
          <p:cNvPr id="19" name="Rectangle 5">
            <a:extLst>
              <a:ext uri="{FF2B5EF4-FFF2-40B4-BE49-F238E27FC236}">
                <a16:creationId xmlns:a16="http://schemas.microsoft.com/office/drawing/2014/main" id="{F4652B1B-A973-EC6B-E03F-CBC4C18869AF}"/>
              </a:ext>
            </a:extLst>
          </p:cNvPr>
          <p:cNvSpPr>
            <a:spLocks noChangeArrowheads="1"/>
          </p:cNvSpPr>
          <p:nvPr/>
        </p:nvSpPr>
        <p:spPr bwMode="auto">
          <a:xfrm>
            <a:off x="544777" y="4884066"/>
            <a:ext cx="8812596" cy="184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indent="-285750" defTabSz="914400" eaLnBrk="0" fontAlgn="base" hangingPunct="0">
              <a:spcBef>
                <a:spcPct val="0"/>
              </a:spcBef>
              <a:spcAft>
                <a:spcPct val="0"/>
              </a:spcAft>
              <a:buFont typeface="Wingdings" panose="05000000000000000000" pitchFamily="2" charset="2"/>
              <a:buChar char="ü"/>
            </a:pPr>
            <a:r>
              <a:rPr lang="en-US" altLang="en-US" sz="1600" dirty="0">
                <a:latin typeface="Bookman Old Style" panose="02050604050505020204" pitchFamily="18" charset="0"/>
              </a:rPr>
              <a:t>Used Excel Tables for structured data management. </a:t>
            </a:r>
          </a:p>
          <a:p>
            <a:pPr marL="285750" indent="-285750" defTabSz="914400" eaLnBrk="0" fontAlgn="base" hangingPunct="0">
              <a:spcBef>
                <a:spcPct val="0"/>
              </a:spcBef>
              <a:spcAft>
                <a:spcPct val="0"/>
              </a:spcAft>
              <a:buFont typeface="Wingdings" panose="05000000000000000000" pitchFamily="2" charset="2"/>
              <a:buChar char="ü"/>
            </a:pPr>
            <a:r>
              <a:rPr lang="en-US" altLang="en-US" sz="1600" dirty="0">
                <a:latin typeface="Bookman Old Style" panose="02050604050505020204" pitchFamily="18" charset="0"/>
              </a:rPr>
              <a:t>Used formulas for KPI and calculated-field generation. </a:t>
            </a:r>
          </a:p>
          <a:p>
            <a:pPr marL="285750" indent="-285750" defTabSz="914400" eaLnBrk="0" fontAlgn="base" hangingPunct="0">
              <a:spcBef>
                <a:spcPct val="0"/>
              </a:spcBef>
              <a:spcAft>
                <a:spcPct val="0"/>
              </a:spcAft>
              <a:buFont typeface="Wingdings" panose="05000000000000000000" pitchFamily="2" charset="2"/>
              <a:buChar char="ü"/>
            </a:pPr>
            <a:r>
              <a:rPr lang="en-US" altLang="en-US" sz="1600" dirty="0">
                <a:latin typeface="Bookman Old Style" panose="02050604050505020204" pitchFamily="18" charset="0"/>
              </a:rPr>
              <a:t>Used PivotTables and Pivot Charts for aggregation and analysis. </a:t>
            </a:r>
          </a:p>
          <a:p>
            <a:pPr marL="285750" indent="-285750" defTabSz="914400" eaLnBrk="0" fontAlgn="base" hangingPunct="0">
              <a:spcBef>
                <a:spcPct val="0"/>
              </a:spcBef>
              <a:spcAft>
                <a:spcPct val="0"/>
              </a:spcAft>
              <a:buFont typeface="Wingdings" panose="05000000000000000000" pitchFamily="2" charset="2"/>
              <a:buChar char="ü"/>
            </a:pPr>
            <a:r>
              <a:rPr lang="en-US" altLang="en-US" sz="1600" dirty="0">
                <a:latin typeface="Bookman Old Style" panose="02050604050505020204" pitchFamily="18" charset="0"/>
              </a:rPr>
              <a:t>Used Slicers for interactive filtering. </a:t>
            </a:r>
          </a:p>
          <a:p>
            <a:pPr marL="285750" indent="-285750" defTabSz="914400" eaLnBrk="0" fontAlgn="base" hangingPunct="0">
              <a:spcBef>
                <a:spcPct val="0"/>
              </a:spcBef>
              <a:spcAft>
                <a:spcPct val="0"/>
              </a:spcAft>
              <a:buFont typeface="Wingdings" panose="05000000000000000000" pitchFamily="2" charset="2"/>
              <a:buChar char="ü"/>
            </a:pPr>
            <a:r>
              <a:rPr lang="en-US" altLang="en-US" sz="1600" dirty="0">
                <a:latin typeface="Bookman Old Style" panose="02050604050505020204" pitchFamily="18" charset="0"/>
              </a:rPr>
              <a:t>Classified inventory into Critical, Low, Healthy and Overstocked categories. </a:t>
            </a:r>
          </a:p>
          <a:p>
            <a:pPr marL="285750" indent="-285750" defTabSz="914400" eaLnBrk="0" fontAlgn="base" hangingPunct="0">
              <a:spcBef>
                <a:spcPct val="0"/>
              </a:spcBef>
              <a:spcAft>
                <a:spcPct val="0"/>
              </a:spcAft>
              <a:buFont typeface="Wingdings" panose="05000000000000000000" pitchFamily="2" charset="2"/>
              <a:buChar char="ü"/>
            </a:pPr>
            <a:r>
              <a:rPr lang="en-US" altLang="en-US" sz="1600" dirty="0">
                <a:latin typeface="Bookman Old Style" panose="02050604050505020204" pitchFamily="18" charset="0"/>
              </a:rPr>
              <a:t>Calculated forecast performance using MAE and a WMAPE-style accuracy metric. </a:t>
            </a:r>
          </a:p>
        </p:txBody>
      </p:sp>
      <p:sp>
        <p:nvSpPr>
          <p:cNvPr id="21" name="TextBox 20">
            <a:extLst>
              <a:ext uri="{FF2B5EF4-FFF2-40B4-BE49-F238E27FC236}">
                <a16:creationId xmlns:a16="http://schemas.microsoft.com/office/drawing/2014/main" id="{CC17A882-FBB6-264E-92F7-6717A218372F}"/>
              </a:ext>
            </a:extLst>
          </p:cNvPr>
          <p:cNvSpPr txBox="1"/>
          <p:nvPr/>
        </p:nvSpPr>
        <p:spPr>
          <a:xfrm>
            <a:off x="9576961" y="3729513"/>
            <a:ext cx="2516528" cy="369332"/>
          </a:xfrm>
          <a:prstGeom prst="rect">
            <a:avLst/>
          </a:prstGeom>
          <a:solidFill>
            <a:srgbClr val="00B050"/>
          </a:solidFill>
        </p:spPr>
        <p:txBody>
          <a:bodyPr wrap="square">
            <a:spAutoFit/>
          </a:bodyPr>
          <a:lstStyle/>
          <a:p>
            <a:r>
              <a:rPr lang="en-IN" b="1" dirty="0">
                <a:solidFill>
                  <a:schemeClr val="bg1"/>
                </a:solidFill>
                <a:latin typeface="Bell MT" panose="02020503060305020303" pitchFamily="18" charset="0"/>
              </a:rPr>
              <a:t>Decision Framework</a:t>
            </a:r>
          </a:p>
        </p:txBody>
      </p:sp>
      <p:sp>
        <p:nvSpPr>
          <p:cNvPr id="23" name="TextBox 22">
            <a:extLst>
              <a:ext uri="{FF2B5EF4-FFF2-40B4-BE49-F238E27FC236}">
                <a16:creationId xmlns:a16="http://schemas.microsoft.com/office/drawing/2014/main" id="{1DFE097E-CC3B-C555-1B11-D05F6E66188F}"/>
              </a:ext>
            </a:extLst>
          </p:cNvPr>
          <p:cNvSpPr txBox="1"/>
          <p:nvPr/>
        </p:nvSpPr>
        <p:spPr>
          <a:xfrm>
            <a:off x="9576961" y="4098845"/>
            <a:ext cx="2516528" cy="2677656"/>
          </a:xfrm>
          <a:prstGeom prst="rect">
            <a:avLst/>
          </a:prstGeom>
          <a:solidFill>
            <a:srgbClr val="002060"/>
          </a:solidFill>
        </p:spPr>
        <p:txBody>
          <a:bodyPr wrap="square">
            <a:spAutoFit/>
          </a:bodyPr>
          <a:lstStyle/>
          <a:p>
            <a:pPr algn="ctr"/>
            <a:endParaRPr lang="en-IN" sz="1200" dirty="0">
              <a:solidFill>
                <a:schemeClr val="bg1"/>
              </a:solidFill>
            </a:endParaRPr>
          </a:p>
          <a:p>
            <a:pPr algn="ctr"/>
            <a:r>
              <a:rPr lang="en-IN" sz="1200" dirty="0">
                <a:solidFill>
                  <a:srgbClr val="FFFF00"/>
                </a:solidFill>
                <a:latin typeface="Berlin Sans FB Demi" panose="020E0802020502020306" pitchFamily="34" charset="0"/>
              </a:rPr>
              <a:t>Historical Sales &amp; Inventory Data</a:t>
            </a:r>
          </a:p>
          <a:p>
            <a:pPr algn="ctr"/>
            <a:r>
              <a:rPr lang="en-IN" sz="1200" dirty="0">
                <a:solidFill>
                  <a:srgbClr val="FFFF00"/>
                </a:solidFill>
                <a:latin typeface="Berlin Sans FB Demi" panose="020E0802020502020306" pitchFamily="34" charset="0"/>
              </a:rPr>
              <a:t>   ↓</a:t>
            </a:r>
          </a:p>
          <a:p>
            <a:pPr algn="ctr"/>
            <a:r>
              <a:rPr lang="en-IN" sz="1200" dirty="0">
                <a:solidFill>
                  <a:srgbClr val="FFFF00"/>
                </a:solidFill>
                <a:latin typeface="Berlin Sans FB Demi" panose="020E0802020502020306" pitchFamily="34" charset="0"/>
              </a:rPr>
              <a:t> Data Cleaning</a:t>
            </a:r>
          </a:p>
          <a:p>
            <a:pPr algn="ctr"/>
            <a:r>
              <a:rPr lang="en-IN" sz="1200" dirty="0">
                <a:solidFill>
                  <a:srgbClr val="FFFF00"/>
                </a:solidFill>
                <a:latin typeface="Berlin Sans FB Demi" panose="020E0802020502020306" pitchFamily="34" charset="0"/>
              </a:rPr>
              <a:t>   ↓</a:t>
            </a:r>
          </a:p>
          <a:p>
            <a:pPr algn="ctr"/>
            <a:r>
              <a:rPr lang="en-IN" sz="1200" dirty="0">
                <a:solidFill>
                  <a:srgbClr val="FFFF00"/>
                </a:solidFill>
                <a:latin typeface="Berlin Sans FB Demi" panose="020E0802020502020306" pitchFamily="34" charset="0"/>
              </a:rPr>
              <a:t>       Data Transformation</a:t>
            </a:r>
          </a:p>
          <a:p>
            <a:pPr algn="ctr"/>
            <a:r>
              <a:rPr lang="en-IN" sz="1200" dirty="0">
                <a:solidFill>
                  <a:srgbClr val="FFFF00"/>
                </a:solidFill>
                <a:latin typeface="Berlin Sans FB Demi" panose="020E0802020502020306" pitchFamily="34" charset="0"/>
              </a:rPr>
              <a:t>   ↓</a:t>
            </a:r>
          </a:p>
          <a:p>
            <a:pPr algn="ctr"/>
            <a:r>
              <a:rPr lang="en-IN" sz="1200" dirty="0">
                <a:solidFill>
                  <a:srgbClr val="FFFF00"/>
                </a:solidFill>
                <a:latin typeface="Berlin Sans FB Demi" panose="020E0802020502020306" pitchFamily="34" charset="0"/>
              </a:rPr>
              <a:t>      KPI &amp; Pivot Analysis</a:t>
            </a:r>
          </a:p>
          <a:p>
            <a:pPr algn="ctr"/>
            <a:r>
              <a:rPr lang="en-IN" sz="1200" dirty="0">
                <a:solidFill>
                  <a:srgbClr val="FFFF00"/>
                </a:solidFill>
                <a:latin typeface="Berlin Sans FB Demi" panose="020E0802020502020306" pitchFamily="34" charset="0"/>
              </a:rPr>
              <a:t>   ↓</a:t>
            </a:r>
          </a:p>
          <a:p>
            <a:pPr algn="ctr"/>
            <a:r>
              <a:rPr lang="en-IN" sz="1200" dirty="0">
                <a:solidFill>
                  <a:srgbClr val="FFFF00"/>
                </a:solidFill>
                <a:latin typeface="Berlin Sans FB Demi" panose="020E0802020502020306" pitchFamily="34" charset="0"/>
              </a:rPr>
              <a:t>      Inventory Risk Analysis</a:t>
            </a:r>
          </a:p>
          <a:p>
            <a:pPr algn="ctr"/>
            <a:r>
              <a:rPr lang="en-IN" sz="1200" dirty="0">
                <a:solidFill>
                  <a:srgbClr val="FFFF00"/>
                </a:solidFill>
                <a:latin typeface="Berlin Sans FB Demi" panose="020E0802020502020306" pitchFamily="34" charset="0"/>
              </a:rPr>
              <a:t>   ↓</a:t>
            </a:r>
          </a:p>
          <a:p>
            <a:pPr algn="ctr"/>
            <a:r>
              <a:rPr lang="en-IN" sz="1200" dirty="0">
                <a:solidFill>
                  <a:srgbClr val="FFFF00"/>
                </a:solidFill>
                <a:latin typeface="Berlin Sans FB Demi" panose="020E0802020502020306" pitchFamily="34" charset="0"/>
              </a:rPr>
              <a:t>       Reorder Identification</a:t>
            </a:r>
          </a:p>
          <a:p>
            <a:pPr algn="ctr"/>
            <a:r>
              <a:rPr lang="en-IN" sz="1200" dirty="0">
                <a:solidFill>
                  <a:srgbClr val="FFFF00"/>
                </a:solidFill>
                <a:latin typeface="Berlin Sans FB Demi" panose="020E0802020502020306" pitchFamily="34" charset="0"/>
              </a:rPr>
              <a:t>   ↓</a:t>
            </a:r>
          </a:p>
          <a:p>
            <a:pPr algn="ctr"/>
            <a:r>
              <a:rPr lang="en-IN" sz="1200" dirty="0">
                <a:solidFill>
                  <a:srgbClr val="FFFF00"/>
                </a:solidFill>
                <a:latin typeface="Berlin Sans FB Demi" panose="020E0802020502020306" pitchFamily="34" charset="0"/>
              </a:rPr>
              <a:t>     Business Insights &amp; Decisions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5"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2000"/>
                                        <p:tgtEl>
                                          <p:spTgt spid="7"/>
                                        </p:tgtEl>
                                      </p:cBhvr>
                                    </p:animEffect>
                                    <p:anim calcmode="lin" valueType="num">
                                      <p:cBhvr>
                                        <p:cTn id="13" dur="2000" fill="hold"/>
                                        <p:tgtEl>
                                          <p:spTgt spid="7"/>
                                        </p:tgtEl>
                                        <p:attrNameLst>
                                          <p:attrName>ppt_w</p:attrName>
                                        </p:attrNameLst>
                                      </p:cBhvr>
                                      <p:tavLst>
                                        <p:tav tm="0" fmla="#ppt_w*sin(2.5*pi*$)">
                                          <p:val>
                                            <p:fltVal val="0"/>
                                          </p:val>
                                        </p:tav>
                                        <p:tav tm="100000">
                                          <p:val>
                                            <p:fltVal val="1"/>
                                          </p:val>
                                        </p:tav>
                                      </p:tavLst>
                                    </p:anim>
                                    <p:anim calcmode="lin" valueType="num">
                                      <p:cBhvr>
                                        <p:cTn id="14" dur="2000" fill="hold"/>
                                        <p:tgtEl>
                                          <p:spTgt spid="7"/>
                                        </p:tgtEl>
                                        <p:attrNameLst>
                                          <p:attrName>ppt_h</p:attrName>
                                        </p:attrNameLst>
                                      </p:cBhvr>
                                      <p:tavLst>
                                        <p:tav tm="0">
                                          <p:val>
                                            <p:strVal val="#ppt_h"/>
                                          </p:val>
                                        </p:tav>
                                        <p:tav tm="100000">
                                          <p:val>
                                            <p:strVal val="#ppt_h"/>
                                          </p:val>
                                        </p:tav>
                                      </p:tavLst>
                                    </p:anim>
                                  </p:childTnLst>
                                </p:cTn>
                              </p:par>
                              <p:par>
                                <p:cTn id="15" presetID="45" presetClass="entr" presetSubtype="0" fill="hold" nodeType="with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2000"/>
                                        <p:tgtEl>
                                          <p:spTgt spid="4"/>
                                        </p:tgtEl>
                                      </p:cBhvr>
                                    </p:animEffect>
                                    <p:anim calcmode="lin" valueType="num">
                                      <p:cBhvr>
                                        <p:cTn id="18" dur="2000" fill="hold"/>
                                        <p:tgtEl>
                                          <p:spTgt spid="4"/>
                                        </p:tgtEl>
                                        <p:attrNameLst>
                                          <p:attrName>ppt_w</p:attrName>
                                        </p:attrNameLst>
                                      </p:cBhvr>
                                      <p:tavLst>
                                        <p:tav tm="0" fmla="#ppt_w*sin(2.5*pi*$)">
                                          <p:val>
                                            <p:fltVal val="0"/>
                                          </p:val>
                                        </p:tav>
                                        <p:tav tm="100000">
                                          <p:val>
                                            <p:fltVal val="1"/>
                                          </p:val>
                                        </p:tav>
                                      </p:tavLst>
                                    </p:anim>
                                    <p:anim calcmode="lin" valueType="num">
                                      <p:cBhvr>
                                        <p:cTn id="19" dur="2000" fill="hold"/>
                                        <p:tgtEl>
                                          <p:spTgt spid="4"/>
                                        </p:tgtEl>
                                        <p:attrNameLst>
                                          <p:attrName>ppt_h</p:attrName>
                                        </p:attrNameLst>
                                      </p:cBhvr>
                                      <p:tavLst>
                                        <p:tav tm="0">
                                          <p:val>
                                            <p:strVal val="#ppt_h"/>
                                          </p:val>
                                        </p:tav>
                                        <p:tav tm="100000">
                                          <p:val>
                                            <p:strVal val="#ppt_h"/>
                                          </p:val>
                                        </p:tav>
                                      </p:tavLst>
                                    </p:anim>
                                  </p:childTnLst>
                                </p:cTn>
                              </p:par>
                              <p:par>
                                <p:cTn id="20" presetID="45" presetClass="entr" presetSubtype="0"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2000"/>
                                        <p:tgtEl>
                                          <p:spTgt spid="5"/>
                                        </p:tgtEl>
                                      </p:cBhvr>
                                    </p:animEffect>
                                    <p:anim calcmode="lin" valueType="num">
                                      <p:cBhvr>
                                        <p:cTn id="23" dur="2000" fill="hold"/>
                                        <p:tgtEl>
                                          <p:spTgt spid="5"/>
                                        </p:tgtEl>
                                        <p:attrNameLst>
                                          <p:attrName>ppt_w</p:attrName>
                                        </p:attrNameLst>
                                      </p:cBhvr>
                                      <p:tavLst>
                                        <p:tav tm="0" fmla="#ppt_w*sin(2.5*pi*$)">
                                          <p:val>
                                            <p:fltVal val="0"/>
                                          </p:val>
                                        </p:tav>
                                        <p:tav tm="100000">
                                          <p:val>
                                            <p:fltVal val="1"/>
                                          </p:val>
                                        </p:tav>
                                      </p:tavLst>
                                    </p:anim>
                                    <p:anim calcmode="lin" valueType="num">
                                      <p:cBhvr>
                                        <p:cTn id="24" dur="2000" fill="hold"/>
                                        <p:tgtEl>
                                          <p:spTgt spid="5"/>
                                        </p:tgtEl>
                                        <p:attrNameLst>
                                          <p:attrName>ppt_h</p:attrName>
                                        </p:attrNameLst>
                                      </p:cBhvr>
                                      <p:tavLst>
                                        <p:tav tm="0">
                                          <p:val>
                                            <p:strVal val="#ppt_h"/>
                                          </p:val>
                                        </p:tav>
                                        <p:tav tm="100000">
                                          <p:val>
                                            <p:strVal val="#ppt_h"/>
                                          </p:val>
                                        </p:tav>
                                      </p:tavLst>
                                    </p:anim>
                                  </p:childTnLst>
                                </p:cTn>
                              </p:par>
                              <p:par>
                                <p:cTn id="25" presetID="45"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2000"/>
                                        <p:tgtEl>
                                          <p:spTgt spid="14"/>
                                        </p:tgtEl>
                                      </p:cBhvr>
                                    </p:animEffect>
                                    <p:anim calcmode="lin" valueType="num">
                                      <p:cBhvr>
                                        <p:cTn id="28" dur="2000" fill="hold"/>
                                        <p:tgtEl>
                                          <p:spTgt spid="14"/>
                                        </p:tgtEl>
                                        <p:attrNameLst>
                                          <p:attrName>ppt_w</p:attrName>
                                        </p:attrNameLst>
                                      </p:cBhvr>
                                      <p:tavLst>
                                        <p:tav tm="0" fmla="#ppt_w*sin(2.5*pi*$)">
                                          <p:val>
                                            <p:fltVal val="0"/>
                                          </p:val>
                                        </p:tav>
                                        <p:tav tm="100000">
                                          <p:val>
                                            <p:fltVal val="1"/>
                                          </p:val>
                                        </p:tav>
                                      </p:tavLst>
                                    </p:anim>
                                    <p:anim calcmode="lin" valueType="num">
                                      <p:cBhvr>
                                        <p:cTn id="29" dur="2000" fill="hold"/>
                                        <p:tgtEl>
                                          <p:spTgt spid="14"/>
                                        </p:tgtEl>
                                        <p:attrNameLst>
                                          <p:attrName>ppt_h</p:attrName>
                                        </p:attrNameLst>
                                      </p:cBhvr>
                                      <p:tavLst>
                                        <p:tav tm="0">
                                          <p:val>
                                            <p:strVal val="#ppt_h"/>
                                          </p:val>
                                        </p:tav>
                                        <p:tav tm="100000">
                                          <p:val>
                                            <p:strVal val="#ppt_h"/>
                                          </p:val>
                                        </p:tav>
                                      </p:tavLst>
                                    </p:anim>
                                  </p:childTnLst>
                                </p:cTn>
                              </p:par>
                              <p:par>
                                <p:cTn id="30" presetID="45" presetClass="entr" presetSubtype="0" fill="hold" grpId="0"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2000"/>
                                        <p:tgtEl>
                                          <p:spTgt spid="15"/>
                                        </p:tgtEl>
                                      </p:cBhvr>
                                    </p:animEffect>
                                    <p:anim calcmode="lin" valueType="num">
                                      <p:cBhvr>
                                        <p:cTn id="33" dur="2000" fill="hold"/>
                                        <p:tgtEl>
                                          <p:spTgt spid="15"/>
                                        </p:tgtEl>
                                        <p:attrNameLst>
                                          <p:attrName>ppt_w</p:attrName>
                                        </p:attrNameLst>
                                      </p:cBhvr>
                                      <p:tavLst>
                                        <p:tav tm="0" fmla="#ppt_w*sin(2.5*pi*$)">
                                          <p:val>
                                            <p:fltVal val="0"/>
                                          </p:val>
                                        </p:tav>
                                        <p:tav tm="100000">
                                          <p:val>
                                            <p:fltVal val="1"/>
                                          </p:val>
                                        </p:tav>
                                      </p:tavLst>
                                    </p:anim>
                                    <p:anim calcmode="lin" valueType="num">
                                      <p:cBhvr>
                                        <p:cTn id="34" dur="2000" fill="hold"/>
                                        <p:tgtEl>
                                          <p:spTgt spid="15"/>
                                        </p:tgtEl>
                                        <p:attrNameLst>
                                          <p:attrName>ppt_h</p:attrName>
                                        </p:attrNameLst>
                                      </p:cBhvr>
                                      <p:tavLst>
                                        <p:tav tm="0">
                                          <p:val>
                                            <p:strVal val="#ppt_h"/>
                                          </p:val>
                                        </p:tav>
                                        <p:tav tm="100000">
                                          <p:val>
                                            <p:strVal val="#ppt_h"/>
                                          </p:val>
                                        </p:tav>
                                      </p:tavLst>
                                    </p:anim>
                                  </p:childTnLst>
                                </p:cTn>
                              </p:par>
                              <p:par>
                                <p:cTn id="35" presetID="45" presetClass="entr" presetSubtype="0" fill="hold" grpId="0" nodeType="with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2000"/>
                                        <p:tgtEl>
                                          <p:spTgt spid="8"/>
                                        </p:tgtEl>
                                      </p:cBhvr>
                                    </p:animEffect>
                                    <p:anim calcmode="lin" valueType="num">
                                      <p:cBhvr>
                                        <p:cTn id="38" dur="2000" fill="hold"/>
                                        <p:tgtEl>
                                          <p:spTgt spid="8"/>
                                        </p:tgtEl>
                                        <p:attrNameLst>
                                          <p:attrName>ppt_w</p:attrName>
                                        </p:attrNameLst>
                                      </p:cBhvr>
                                      <p:tavLst>
                                        <p:tav tm="0" fmla="#ppt_w*sin(2.5*pi*$)">
                                          <p:val>
                                            <p:fltVal val="0"/>
                                          </p:val>
                                        </p:tav>
                                        <p:tav tm="100000">
                                          <p:val>
                                            <p:fltVal val="1"/>
                                          </p:val>
                                        </p:tav>
                                      </p:tavLst>
                                    </p:anim>
                                    <p:anim calcmode="lin" valueType="num">
                                      <p:cBhvr>
                                        <p:cTn id="39" dur="2000" fill="hold"/>
                                        <p:tgtEl>
                                          <p:spTgt spid="8"/>
                                        </p:tgtEl>
                                        <p:attrNameLst>
                                          <p:attrName>ppt_h</p:attrName>
                                        </p:attrNameLst>
                                      </p:cBhvr>
                                      <p:tavLst>
                                        <p:tav tm="0">
                                          <p:val>
                                            <p:strVal val="#ppt_h"/>
                                          </p:val>
                                        </p:tav>
                                        <p:tav tm="100000">
                                          <p:val>
                                            <p:strVal val="#ppt_h"/>
                                          </p:val>
                                        </p:tav>
                                      </p:tavLst>
                                    </p:anim>
                                  </p:childTnLst>
                                </p:cTn>
                              </p:par>
                              <p:par>
                                <p:cTn id="40" presetID="45" presetClass="entr" presetSubtype="0" fill="hold" nodeType="with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2000"/>
                                        <p:tgtEl>
                                          <p:spTgt spid="10"/>
                                        </p:tgtEl>
                                      </p:cBhvr>
                                    </p:animEffect>
                                    <p:anim calcmode="lin" valueType="num">
                                      <p:cBhvr>
                                        <p:cTn id="43" dur="2000" fill="hold"/>
                                        <p:tgtEl>
                                          <p:spTgt spid="10"/>
                                        </p:tgtEl>
                                        <p:attrNameLst>
                                          <p:attrName>ppt_w</p:attrName>
                                        </p:attrNameLst>
                                      </p:cBhvr>
                                      <p:tavLst>
                                        <p:tav tm="0" fmla="#ppt_w*sin(2.5*pi*$)">
                                          <p:val>
                                            <p:fltVal val="0"/>
                                          </p:val>
                                        </p:tav>
                                        <p:tav tm="100000">
                                          <p:val>
                                            <p:fltVal val="1"/>
                                          </p:val>
                                        </p:tav>
                                      </p:tavLst>
                                    </p:anim>
                                    <p:anim calcmode="lin" valueType="num">
                                      <p:cBhvr>
                                        <p:cTn id="44" dur="2000" fill="hold"/>
                                        <p:tgtEl>
                                          <p:spTgt spid="10"/>
                                        </p:tgtEl>
                                        <p:attrNameLst>
                                          <p:attrName>ppt_h</p:attrName>
                                        </p:attrNameLst>
                                      </p:cBhvr>
                                      <p:tavLst>
                                        <p:tav tm="0">
                                          <p:val>
                                            <p:strVal val="#ppt_h"/>
                                          </p:val>
                                        </p:tav>
                                        <p:tav tm="100000">
                                          <p:val>
                                            <p:strVal val="#ppt_h"/>
                                          </p:val>
                                        </p:tav>
                                      </p:tavLst>
                                    </p:anim>
                                  </p:childTnLst>
                                </p:cTn>
                              </p:par>
                              <p:par>
                                <p:cTn id="45" presetID="45" presetClass="entr" presetSubtype="0" fill="hold" grpId="0" nodeType="with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2000"/>
                                        <p:tgtEl>
                                          <p:spTgt spid="11"/>
                                        </p:tgtEl>
                                      </p:cBhvr>
                                    </p:animEffect>
                                    <p:anim calcmode="lin" valueType="num">
                                      <p:cBhvr>
                                        <p:cTn id="48" dur="2000" fill="hold"/>
                                        <p:tgtEl>
                                          <p:spTgt spid="11"/>
                                        </p:tgtEl>
                                        <p:attrNameLst>
                                          <p:attrName>ppt_w</p:attrName>
                                        </p:attrNameLst>
                                      </p:cBhvr>
                                      <p:tavLst>
                                        <p:tav tm="0" fmla="#ppt_w*sin(2.5*pi*$)">
                                          <p:val>
                                            <p:fltVal val="0"/>
                                          </p:val>
                                        </p:tav>
                                        <p:tav tm="100000">
                                          <p:val>
                                            <p:fltVal val="1"/>
                                          </p:val>
                                        </p:tav>
                                      </p:tavLst>
                                    </p:anim>
                                    <p:anim calcmode="lin" valueType="num">
                                      <p:cBhvr>
                                        <p:cTn id="49" dur="2000" fill="hold"/>
                                        <p:tgtEl>
                                          <p:spTgt spid="11"/>
                                        </p:tgtEl>
                                        <p:attrNameLst>
                                          <p:attrName>ppt_h</p:attrName>
                                        </p:attrNameLst>
                                      </p:cBhvr>
                                      <p:tavLst>
                                        <p:tav tm="0">
                                          <p:val>
                                            <p:strVal val="#ppt_h"/>
                                          </p:val>
                                        </p:tav>
                                        <p:tav tm="100000">
                                          <p:val>
                                            <p:strVal val="#ppt_h"/>
                                          </p:val>
                                        </p:tav>
                                      </p:tavLst>
                                    </p:anim>
                                  </p:childTnLst>
                                </p:cTn>
                              </p:par>
                              <p:par>
                                <p:cTn id="50" presetID="45" presetClass="entr" presetSubtype="0" fill="hold" grpId="0" nodeType="with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fade">
                                      <p:cBhvr>
                                        <p:cTn id="52" dur="2000"/>
                                        <p:tgtEl>
                                          <p:spTgt spid="12"/>
                                        </p:tgtEl>
                                      </p:cBhvr>
                                    </p:animEffect>
                                    <p:anim calcmode="lin" valueType="num">
                                      <p:cBhvr>
                                        <p:cTn id="53" dur="2000" fill="hold"/>
                                        <p:tgtEl>
                                          <p:spTgt spid="12"/>
                                        </p:tgtEl>
                                        <p:attrNameLst>
                                          <p:attrName>ppt_w</p:attrName>
                                        </p:attrNameLst>
                                      </p:cBhvr>
                                      <p:tavLst>
                                        <p:tav tm="0" fmla="#ppt_w*sin(2.5*pi*$)">
                                          <p:val>
                                            <p:fltVal val="0"/>
                                          </p:val>
                                        </p:tav>
                                        <p:tav tm="100000">
                                          <p:val>
                                            <p:fltVal val="1"/>
                                          </p:val>
                                        </p:tav>
                                      </p:tavLst>
                                    </p:anim>
                                    <p:anim calcmode="lin" valueType="num">
                                      <p:cBhvr>
                                        <p:cTn id="54" dur="2000" fill="hold"/>
                                        <p:tgtEl>
                                          <p:spTgt spid="12"/>
                                        </p:tgtEl>
                                        <p:attrNameLst>
                                          <p:attrName>ppt_h</p:attrName>
                                        </p:attrNameLst>
                                      </p:cBhvr>
                                      <p:tavLst>
                                        <p:tav tm="0">
                                          <p:val>
                                            <p:strVal val="#ppt_h"/>
                                          </p:val>
                                        </p:tav>
                                        <p:tav tm="100000">
                                          <p:val>
                                            <p:strVal val="#ppt_h"/>
                                          </p:val>
                                        </p:tav>
                                      </p:tavLst>
                                    </p:anim>
                                  </p:childTnLst>
                                </p:cTn>
                              </p:par>
                              <p:par>
                                <p:cTn id="55" presetID="45" presetClass="entr" presetSubtype="0" fill="hold" grpId="0" nodeType="with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2000"/>
                                        <p:tgtEl>
                                          <p:spTgt spid="19"/>
                                        </p:tgtEl>
                                      </p:cBhvr>
                                    </p:animEffect>
                                    <p:anim calcmode="lin" valueType="num">
                                      <p:cBhvr>
                                        <p:cTn id="58" dur="2000" fill="hold"/>
                                        <p:tgtEl>
                                          <p:spTgt spid="19"/>
                                        </p:tgtEl>
                                        <p:attrNameLst>
                                          <p:attrName>ppt_w</p:attrName>
                                        </p:attrNameLst>
                                      </p:cBhvr>
                                      <p:tavLst>
                                        <p:tav tm="0" fmla="#ppt_w*sin(2.5*pi*$)">
                                          <p:val>
                                            <p:fltVal val="0"/>
                                          </p:val>
                                        </p:tav>
                                        <p:tav tm="100000">
                                          <p:val>
                                            <p:fltVal val="1"/>
                                          </p:val>
                                        </p:tav>
                                      </p:tavLst>
                                    </p:anim>
                                    <p:anim calcmode="lin" valueType="num">
                                      <p:cBhvr>
                                        <p:cTn id="59" dur="2000" fill="hold"/>
                                        <p:tgtEl>
                                          <p:spTgt spid="19"/>
                                        </p:tgtEl>
                                        <p:attrNameLst>
                                          <p:attrName>ppt_h</p:attrName>
                                        </p:attrNameLst>
                                      </p:cBhvr>
                                      <p:tavLst>
                                        <p:tav tm="0">
                                          <p:val>
                                            <p:strVal val="#ppt_h"/>
                                          </p:val>
                                        </p:tav>
                                        <p:tav tm="100000">
                                          <p:val>
                                            <p:strVal val="#ppt_h"/>
                                          </p:val>
                                        </p:tav>
                                      </p:tavLst>
                                    </p:anim>
                                  </p:childTnLst>
                                </p:cTn>
                              </p:par>
                              <p:par>
                                <p:cTn id="60" presetID="45" presetClass="entr" presetSubtype="0" fill="hold" nodeType="with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2000"/>
                                        <p:tgtEl>
                                          <p:spTgt spid="16"/>
                                        </p:tgtEl>
                                      </p:cBhvr>
                                    </p:animEffect>
                                    <p:anim calcmode="lin" valueType="num">
                                      <p:cBhvr>
                                        <p:cTn id="63" dur="2000" fill="hold"/>
                                        <p:tgtEl>
                                          <p:spTgt spid="16"/>
                                        </p:tgtEl>
                                        <p:attrNameLst>
                                          <p:attrName>ppt_w</p:attrName>
                                        </p:attrNameLst>
                                      </p:cBhvr>
                                      <p:tavLst>
                                        <p:tav tm="0" fmla="#ppt_w*sin(2.5*pi*$)">
                                          <p:val>
                                            <p:fltVal val="0"/>
                                          </p:val>
                                        </p:tav>
                                        <p:tav tm="100000">
                                          <p:val>
                                            <p:fltVal val="1"/>
                                          </p:val>
                                        </p:tav>
                                      </p:tavLst>
                                    </p:anim>
                                    <p:anim calcmode="lin" valueType="num">
                                      <p:cBhvr>
                                        <p:cTn id="64" dur="2000" fill="hold"/>
                                        <p:tgtEl>
                                          <p:spTgt spid="16"/>
                                        </p:tgtEl>
                                        <p:attrNameLst>
                                          <p:attrName>ppt_h</p:attrName>
                                        </p:attrNameLst>
                                      </p:cBhvr>
                                      <p:tavLst>
                                        <p:tav tm="0">
                                          <p:val>
                                            <p:strVal val="#ppt_h"/>
                                          </p:val>
                                        </p:tav>
                                        <p:tav tm="100000">
                                          <p:val>
                                            <p:strVal val="#ppt_h"/>
                                          </p:val>
                                        </p:tav>
                                      </p:tavLst>
                                    </p:anim>
                                  </p:childTnLst>
                                </p:cTn>
                              </p:par>
                              <p:par>
                                <p:cTn id="65" presetID="45" presetClass="entr" presetSubtype="0" fill="hold" grpId="0" nodeType="withEffect">
                                  <p:stCondLst>
                                    <p:cond delay="0"/>
                                  </p:stCondLst>
                                  <p:childTnLst>
                                    <p:set>
                                      <p:cBhvr>
                                        <p:cTn id="66" dur="1" fill="hold">
                                          <p:stCondLst>
                                            <p:cond delay="0"/>
                                          </p:stCondLst>
                                        </p:cTn>
                                        <p:tgtEl>
                                          <p:spTgt spid="21"/>
                                        </p:tgtEl>
                                        <p:attrNameLst>
                                          <p:attrName>style.visibility</p:attrName>
                                        </p:attrNameLst>
                                      </p:cBhvr>
                                      <p:to>
                                        <p:strVal val="visible"/>
                                      </p:to>
                                    </p:set>
                                    <p:animEffect transition="in" filter="fade">
                                      <p:cBhvr>
                                        <p:cTn id="67" dur="2000"/>
                                        <p:tgtEl>
                                          <p:spTgt spid="21"/>
                                        </p:tgtEl>
                                      </p:cBhvr>
                                    </p:animEffect>
                                    <p:anim calcmode="lin" valueType="num">
                                      <p:cBhvr>
                                        <p:cTn id="68" dur="2000" fill="hold"/>
                                        <p:tgtEl>
                                          <p:spTgt spid="21"/>
                                        </p:tgtEl>
                                        <p:attrNameLst>
                                          <p:attrName>ppt_w</p:attrName>
                                        </p:attrNameLst>
                                      </p:cBhvr>
                                      <p:tavLst>
                                        <p:tav tm="0" fmla="#ppt_w*sin(2.5*pi*$)">
                                          <p:val>
                                            <p:fltVal val="0"/>
                                          </p:val>
                                        </p:tav>
                                        <p:tav tm="100000">
                                          <p:val>
                                            <p:fltVal val="1"/>
                                          </p:val>
                                        </p:tav>
                                      </p:tavLst>
                                    </p:anim>
                                    <p:anim calcmode="lin" valueType="num">
                                      <p:cBhvr>
                                        <p:cTn id="69" dur="2000" fill="hold"/>
                                        <p:tgtEl>
                                          <p:spTgt spid="21"/>
                                        </p:tgtEl>
                                        <p:attrNameLst>
                                          <p:attrName>ppt_h</p:attrName>
                                        </p:attrNameLst>
                                      </p:cBhvr>
                                      <p:tavLst>
                                        <p:tav tm="0">
                                          <p:val>
                                            <p:strVal val="#ppt_h"/>
                                          </p:val>
                                        </p:tav>
                                        <p:tav tm="100000">
                                          <p:val>
                                            <p:strVal val="#ppt_h"/>
                                          </p:val>
                                        </p:tav>
                                      </p:tavLst>
                                    </p:anim>
                                  </p:childTnLst>
                                </p:cTn>
                              </p:par>
                              <p:par>
                                <p:cTn id="70" presetID="45" presetClass="entr" presetSubtype="0" fill="hold" grpId="0" nodeType="withEffect">
                                  <p:stCondLst>
                                    <p:cond delay="0"/>
                                  </p:stCondLst>
                                  <p:childTnLst>
                                    <p:set>
                                      <p:cBhvr>
                                        <p:cTn id="71" dur="1" fill="hold">
                                          <p:stCondLst>
                                            <p:cond delay="0"/>
                                          </p:stCondLst>
                                        </p:cTn>
                                        <p:tgtEl>
                                          <p:spTgt spid="23"/>
                                        </p:tgtEl>
                                        <p:attrNameLst>
                                          <p:attrName>style.visibility</p:attrName>
                                        </p:attrNameLst>
                                      </p:cBhvr>
                                      <p:to>
                                        <p:strVal val="visible"/>
                                      </p:to>
                                    </p:set>
                                    <p:animEffect transition="in" filter="fade">
                                      <p:cBhvr>
                                        <p:cTn id="72" dur="2000"/>
                                        <p:tgtEl>
                                          <p:spTgt spid="23"/>
                                        </p:tgtEl>
                                      </p:cBhvr>
                                    </p:animEffect>
                                    <p:anim calcmode="lin" valueType="num">
                                      <p:cBhvr>
                                        <p:cTn id="73" dur="2000" fill="hold"/>
                                        <p:tgtEl>
                                          <p:spTgt spid="23"/>
                                        </p:tgtEl>
                                        <p:attrNameLst>
                                          <p:attrName>ppt_w</p:attrName>
                                        </p:attrNameLst>
                                      </p:cBhvr>
                                      <p:tavLst>
                                        <p:tav tm="0" fmla="#ppt_w*sin(2.5*pi*$)">
                                          <p:val>
                                            <p:fltVal val="0"/>
                                          </p:val>
                                        </p:tav>
                                        <p:tav tm="100000">
                                          <p:val>
                                            <p:fltVal val="1"/>
                                          </p:val>
                                        </p:tav>
                                      </p:tavLst>
                                    </p:anim>
                                    <p:anim calcmode="lin" valueType="num">
                                      <p:cBhvr>
                                        <p:cTn id="74" dur="2000" fill="hold"/>
                                        <p:tgtEl>
                                          <p:spTgt spid="2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8" grpId="0" animBg="1"/>
      <p:bldP spid="11" grpId="0" animBg="1"/>
      <p:bldP spid="12" grpId="0" animBg="1"/>
      <p:bldP spid="14" grpId="0"/>
      <p:bldP spid="15" grpId="0"/>
      <p:bldP spid="19" grpId="0"/>
      <p:bldP spid="21" grpId="0" animBg="1"/>
      <p:bldP spid="2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524768"/>
            <a:ext cx="10868745" cy="304602"/>
          </a:xfrm>
          <a:prstGeom prst="rect">
            <a:avLst/>
          </a:prstGeom>
          <a:noFill/>
          <a:ln/>
        </p:spPr>
        <p:txBody>
          <a:bodyPr wrap="none" lIns="0" tIns="0" rIns="0" bIns="0" rtlCol="0" anchor="t"/>
          <a:lstStyle/>
          <a:p>
            <a:pPr marL="0" indent="0" algn="l">
              <a:lnSpc>
                <a:spcPct val="104000"/>
              </a:lnSpc>
              <a:buNone/>
            </a:pPr>
            <a:r>
              <a:rPr lang="en-US" sz="1900" b="1" u="sng" dirty="0">
                <a:solidFill>
                  <a:srgbClr val="312F2B"/>
                </a:solidFill>
                <a:latin typeface="Bookman Old Style" panose="02050604050505020204" pitchFamily="18" charset="0"/>
                <a:ea typeface="Gelasio" pitchFamily="34" charset="-122"/>
                <a:cs typeface="Gelasio" pitchFamily="34" charset="-120"/>
              </a:rPr>
              <a:t>Key Insights</a:t>
            </a:r>
            <a:endParaRPr lang="en-US" sz="1900" b="1" u="sng" dirty="0">
              <a:latin typeface="Bookman Old Style" panose="02050604050505020204" pitchFamily="18" charset="0"/>
            </a:endParaRPr>
          </a:p>
        </p:txBody>
      </p:sp>
      <p:pic>
        <p:nvPicPr>
          <p:cNvPr id="3" name="Image 0" descr="preencoded.png"/>
          <p:cNvPicPr>
            <a:picLocks noChangeAspect="1"/>
          </p:cNvPicPr>
          <p:nvPr/>
        </p:nvPicPr>
        <p:blipFill>
          <a:blip r:embed="rId3">
            <a:extLst>
              <a:ext uri="{BEBA8EAE-BF5A-486C-A8C5-ECC9F3942E4B}">
                <a14:imgProps xmlns:a14="http://schemas.microsoft.com/office/drawing/2010/main">
                  <a14:imgLayer r:embed="rId4">
                    <a14:imgEffect>
                      <a14:backgroundRemoval t="3819" b="98687" l="7041" r="94511">
                        <a14:foregroundMark x1="18258" y1="41945" x2="9129" y2="50060"/>
                        <a14:foregroundMark x1="9129" y1="50060" x2="18138" y2="45406"/>
                        <a14:foregroundMark x1="18138" y1="45406" x2="10203" y2="51313"/>
                        <a14:foregroundMark x1="10203" y1="51313" x2="5191" y2="44033"/>
                        <a14:foregroundMark x1="5191" y1="44033" x2="6921" y2="55012"/>
                        <a14:foregroundMark x1="6921" y1="55012" x2="16945" y2="59606"/>
                        <a14:foregroundMark x1="16945" y1="59606" x2="24284" y2="49761"/>
                        <a14:foregroundMark x1="24284" y1="49761" x2="19093" y2="39499"/>
                        <a14:foregroundMark x1="19093" y1="39499" x2="9308" y2="38246"/>
                        <a14:foregroundMark x1="9308" y1="38246" x2="6086" y2="46301"/>
                        <a14:foregroundMark x1="6086" y1="46301" x2="9666" y2="54594"/>
                        <a14:foregroundMark x1="9666" y1="54594" x2="21122" y2="46957"/>
                        <a14:foregroundMark x1="21122" y1="46957" x2="13007" y2="43496"/>
                        <a14:foregroundMark x1="13007" y1="43496" x2="16169" y2="54057"/>
                        <a14:foregroundMark x1="16169" y1="54057" x2="19212" y2="49582"/>
                        <a14:foregroundMark x1="3640" y1="49761" x2="7518" y2="40334"/>
                        <a14:foregroundMark x1="7518" y1="40334" x2="17184" y2="37530"/>
                        <a14:foregroundMark x1="17184" y1="37530" x2="23389" y2="44749"/>
                        <a14:foregroundMark x1="23389" y1="44749" x2="31026" y2="49523"/>
                        <a14:foregroundMark x1="31026" y1="49523" x2="36933" y2="40752"/>
                        <a14:foregroundMark x1="36933" y1="40752" x2="46241" y2="35621"/>
                        <a14:foregroundMark x1="46241" y1="35621" x2="50060" y2="27387"/>
                        <a14:foregroundMark x1="50060" y1="27387" x2="40871" y2="20227"/>
                        <a14:foregroundMark x1="40871" y1="20227" x2="40692" y2="9308"/>
                        <a14:foregroundMark x1="40692" y1="9308" x2="49403" y2="4415"/>
                        <a14:foregroundMark x1="49403" y1="4415" x2="58413" y2="7697"/>
                        <a14:foregroundMark x1="58413" y1="7697" x2="60442" y2="16229"/>
                        <a14:foregroundMark x1="60442" y1="16229" x2="49761" y2="31384"/>
                        <a14:foregroundMark x1="49761" y1="31384" x2="63723" y2="44272"/>
                        <a14:foregroundMark x1="63723" y1="44272" x2="64439" y2="48628"/>
                        <a14:foregroundMark x1="64439" y1="48628" x2="73926" y2="49761"/>
                        <a14:foregroundMark x1="73926" y1="49761" x2="78162" y2="42184"/>
                        <a14:foregroundMark x1="78162" y1="42184" x2="71599" y2="49821"/>
                        <a14:foregroundMark x1="71599" y1="49821" x2="76969" y2="41169"/>
                        <a14:foregroundMark x1="76969" y1="41169" x2="86277" y2="37232"/>
                        <a14:foregroundMark x1="86277" y1="37232" x2="94451" y2="43317"/>
                        <a14:foregroundMark x1="94451" y1="43317" x2="95107" y2="52924"/>
                        <a14:foregroundMark x1="95107" y1="52924" x2="87947" y2="59069"/>
                        <a14:foregroundMark x1="87947" y1="59069" x2="78401" y2="56921"/>
                        <a14:foregroundMark x1="78401" y1="56921" x2="70883" y2="50477"/>
                        <a14:foregroundMark x1="70883" y1="50477" x2="56086" y2="61098"/>
                        <a14:foregroundMark x1="56086" y1="61098" x2="50060" y2="69690"/>
                        <a14:foregroundMark x1="50060" y1="69690" x2="57697" y2="75298"/>
                        <a14:foregroundMark x1="57697" y1="75298" x2="60501" y2="84189"/>
                        <a14:foregroundMark x1="60501" y1="84189" x2="57399" y2="92900"/>
                        <a14:foregroundMark x1="57399" y1="92900" x2="50895" y2="98986"/>
                        <a14:foregroundMark x1="50895" y1="98986" x2="53819" y2="90334"/>
                        <a14:foregroundMark x1="53819" y1="90334" x2="45286" y2="93198"/>
                        <a14:foregroundMark x1="45286" y1="93198" x2="39857" y2="83294"/>
                        <a14:foregroundMark x1="39857" y1="83294" x2="49761" y2="67363"/>
                        <a14:foregroundMark x1="49761" y1="67363" x2="41647" y2="61874"/>
                        <a14:foregroundMark x1="41647" y1="61874" x2="36635" y2="54117"/>
                        <a14:foregroundMark x1="36635" y1="54117" x2="27864" y2="49284"/>
                        <a14:foregroundMark x1="27864" y1="49284" x2="20107" y2="56921"/>
                        <a14:foregroundMark x1="20107" y1="56921" x2="9785" y2="56563"/>
                        <a14:foregroundMark x1="9785" y1="56563" x2="4236" y2="47673"/>
                        <a14:foregroundMark x1="4236" y1="47673" x2="7100" y2="58353"/>
                        <a14:foregroundMark x1="7100" y1="58353" x2="17780" y2="59069"/>
                        <a14:foregroundMark x1="17780" y1="59069" x2="25716" y2="49761"/>
                        <a14:foregroundMark x1="25716" y1="49761" x2="34308" y2="47613"/>
                        <a14:foregroundMark x1="34308" y1="47613" x2="38962" y2="39499"/>
                        <a14:foregroundMark x1="38962" y1="39499" x2="49105" y2="31623"/>
                        <a14:foregroundMark x1="49105" y1="31623" x2="43317" y2="24344"/>
                        <a14:foregroundMark x1="43317" y1="24344" x2="40573" y2="14678"/>
                        <a14:foregroundMark x1="40573" y1="14678" x2="44690" y2="6862"/>
                        <a14:foregroundMark x1="44690" y1="6862" x2="54057" y2="3878"/>
                        <a14:foregroundMark x1="54057" y1="3878" x2="60442" y2="10203"/>
                        <a14:foregroundMark x1="60442" y1="10203" x2="59069" y2="19630"/>
                        <a14:foregroundMark x1="59069" y1="19630" x2="53580" y2="27506"/>
                        <a14:foregroundMark x1="53580" y1="27506" x2="57339" y2="36635"/>
                        <a14:foregroundMark x1="57339" y1="36635" x2="65274" y2="46659"/>
                        <a14:foregroundMark x1="65274" y1="46659" x2="68019" y2="48449"/>
                        <a14:foregroundMark x1="6384" y1="41110" x2="3461" y2="49284"/>
                        <a14:foregroundMark x1="3461" y1="49284" x2="7100" y2="58234"/>
                        <a14:foregroundMark x1="7100" y1="58234" x2="7697" y2="58532"/>
                        <a14:foregroundMark x1="93198" y1="41945" x2="94630" y2="51551"/>
                        <a14:foregroundMark x1="94630" y1="51551" x2="92542" y2="57041"/>
                        <a14:foregroundMark x1="35621" y1="44212" x2="36575" y2="55907"/>
                        <a14:foregroundMark x1="36575" y1="55907" x2="45107" y2="64379"/>
                        <a14:foregroundMark x1="45107" y1="64379" x2="55609" y2="63842"/>
                        <a14:foregroundMark x1="55609" y1="63842" x2="62947" y2="56802"/>
                        <a14:foregroundMark x1="62947" y1="56802" x2="64081" y2="44690"/>
                        <a14:foregroundMark x1="64081" y1="44690" x2="62768" y2="43914"/>
                        <a14:foregroundMark x1="38425" y1="45048" x2="37828" y2="56205"/>
                        <a14:foregroundMark x1="37828" y1="56205" x2="44809" y2="61396"/>
                        <a14:foregroundMark x1="44809" y1="61396" x2="55191" y2="62947"/>
                        <a14:foregroundMark x1="55191" y1="62947" x2="63902" y2="55847"/>
                        <a14:foregroundMark x1="63902" y1="55847" x2="64916" y2="44511"/>
                        <a14:foregroundMark x1="64916" y1="44511" x2="59845" y2="40990"/>
                        <a14:foregroundMark x1="43914" y1="41587" x2="41110" y2="55668"/>
                        <a14:foregroundMark x1="41110" y1="55668" x2="48389" y2="61098"/>
                        <a14:foregroundMark x1="48389" y1="61098" x2="59606" y2="56921"/>
                        <a14:foregroundMark x1="59606" y1="56921" x2="63007" y2="45943"/>
                        <a14:foregroundMark x1="63007" y1="45943" x2="54475" y2="40334"/>
                        <a14:foregroundMark x1="54475" y1="40334" x2="54475" y2="40334"/>
                        <a14:foregroundMark x1="44391" y1="49582" x2="50358" y2="59427"/>
                        <a14:foregroundMark x1="50358" y1="59427" x2="56205" y2="48389"/>
                        <a14:foregroundMark x1="56205" y1="48389" x2="46659" y2="46539"/>
                        <a14:foregroundMark x1="46659" y1="46539" x2="44570" y2="46838"/>
                        <a14:foregroundMark x1="50298" y1="71539" x2="42780" y2="80788"/>
                        <a14:foregroundMark x1="42780" y1="80788" x2="52267" y2="86217"/>
                        <a14:foregroundMark x1="52267" y1="86217" x2="57458" y2="76969"/>
                        <a14:foregroundMark x1="57458" y1="76969" x2="50597" y2="70167"/>
                        <a14:foregroundMark x1="50597" y1="70167" x2="50418" y2="70525"/>
                        <a14:foregroundMark x1="42482" y1="90215" x2="51551" y2="94749"/>
                        <a14:foregroundMark x1="51551" y1="94749" x2="58234" y2="91527"/>
                        <a14:foregroundMark x1="7160" y1="59189" x2="51074" y2="98687"/>
                      </a14:backgroundRemoval>
                    </a14:imgEffect>
                  </a14:imgLayer>
                </a14:imgProps>
              </a:ext>
            </a:extLst>
          </a:blip>
          <a:stretch>
            <a:fillRect/>
          </a:stretch>
        </p:blipFill>
        <p:spPr>
          <a:xfrm>
            <a:off x="4971113" y="524768"/>
            <a:ext cx="5971736" cy="5971885"/>
          </a:xfrm>
          <a:prstGeom prst="rect">
            <a:avLst/>
          </a:prstGeom>
        </p:spPr>
      </p:pic>
      <p:graphicFrame>
        <p:nvGraphicFramePr>
          <p:cNvPr id="26" name="Table 25">
            <a:extLst>
              <a:ext uri="{FF2B5EF4-FFF2-40B4-BE49-F238E27FC236}">
                <a16:creationId xmlns:a16="http://schemas.microsoft.com/office/drawing/2014/main" id="{82E6D5E8-7D4F-DFC6-74FB-959DCE50F8DA}"/>
              </a:ext>
            </a:extLst>
          </p:cNvPr>
          <p:cNvGraphicFramePr>
            <a:graphicFrameLocks noGrp="1"/>
          </p:cNvGraphicFramePr>
          <p:nvPr>
            <p:extLst>
              <p:ext uri="{D42A27DB-BD31-4B8C-83A1-F6EECF244321}">
                <p14:modId xmlns:p14="http://schemas.microsoft.com/office/powerpoint/2010/main" val="698992676"/>
              </p:ext>
            </p:extLst>
          </p:nvPr>
        </p:nvGraphicFramePr>
        <p:xfrm>
          <a:off x="661475" y="524768"/>
          <a:ext cx="4511161" cy="5557751"/>
        </p:xfrm>
        <a:graphic>
          <a:graphicData uri="http://schemas.openxmlformats.org/drawingml/2006/table">
            <a:tbl>
              <a:tblPr/>
              <a:tblGrid>
                <a:gridCol w="4511161">
                  <a:extLst>
                    <a:ext uri="{9D8B030D-6E8A-4147-A177-3AD203B41FA5}">
                      <a16:colId xmlns:a16="http://schemas.microsoft.com/office/drawing/2014/main" val="868257428"/>
                    </a:ext>
                  </a:extLst>
                </a:gridCol>
              </a:tblGrid>
              <a:tr h="454983">
                <a:tc>
                  <a:txBody>
                    <a:bodyPr/>
                    <a:lstStyle/>
                    <a:p>
                      <a:pPr marL="285750" indent="-285750">
                        <a:buFont typeface="Wingdings" panose="05000000000000000000" pitchFamily="2" charset="2"/>
                        <a:buChar char="Ø"/>
                      </a:pPr>
                      <a:endParaRPr lang="en-IN" sz="1600" dirty="0"/>
                    </a:p>
                  </a:txBody>
                  <a:tcPr marL="80863" marR="80863" marT="40432" marB="40432" anchor="ctr">
                    <a:lnL>
                      <a:noFill/>
                    </a:lnL>
                    <a:lnR>
                      <a:noFill/>
                    </a:lnR>
                    <a:lnT>
                      <a:noFill/>
                    </a:lnT>
                    <a:lnB>
                      <a:noFill/>
                    </a:lnB>
                    <a:noFill/>
                  </a:tcPr>
                </a:tc>
                <a:extLst>
                  <a:ext uri="{0D108BD9-81ED-4DB2-BD59-A6C34878D82A}">
                    <a16:rowId xmlns:a16="http://schemas.microsoft.com/office/drawing/2014/main" val="280079841"/>
                  </a:ext>
                </a:extLst>
              </a:tr>
              <a:tr h="454983">
                <a:tc>
                  <a:txBody>
                    <a:bodyPr/>
                    <a:lstStyle/>
                    <a:p>
                      <a:pPr marL="285750" indent="-285750">
                        <a:buFont typeface="Wingdings" panose="05000000000000000000" pitchFamily="2" charset="2"/>
                        <a:buChar char="Ø"/>
                      </a:pPr>
                      <a:r>
                        <a:rPr lang="en-IN" sz="1600" b="0" dirty="0">
                          <a:latin typeface="Bookman Old Style" panose="02050604050505020204" pitchFamily="18" charset="0"/>
                        </a:rPr>
                        <a:t>Critical &amp; Low inventory exists</a:t>
                      </a:r>
                    </a:p>
                  </a:txBody>
                  <a:tcPr marL="80863" marR="80863" marT="40432" marB="40432" anchor="ctr">
                    <a:lnL>
                      <a:noFill/>
                    </a:lnL>
                    <a:lnR>
                      <a:noFill/>
                    </a:lnR>
                    <a:lnT>
                      <a:noFill/>
                    </a:lnT>
                    <a:lnB>
                      <a:noFill/>
                    </a:lnB>
                    <a:noFill/>
                  </a:tcPr>
                </a:tc>
                <a:extLst>
                  <a:ext uri="{0D108BD9-81ED-4DB2-BD59-A6C34878D82A}">
                    <a16:rowId xmlns:a16="http://schemas.microsoft.com/office/drawing/2014/main" val="276352220"/>
                  </a:ext>
                </a:extLst>
              </a:tr>
              <a:tr h="454983">
                <a:tc>
                  <a:txBody>
                    <a:bodyPr/>
                    <a:lstStyle/>
                    <a:p>
                      <a:pPr marL="285750" indent="-285750">
                        <a:buFont typeface="Wingdings" panose="05000000000000000000" pitchFamily="2" charset="2"/>
                        <a:buChar char="Ø"/>
                      </a:pPr>
                      <a:r>
                        <a:rPr lang="en-IN" sz="1600" b="0" dirty="0">
                          <a:latin typeface="Bookman Old Style" panose="02050604050505020204" pitchFamily="18" charset="0"/>
                        </a:rPr>
                        <a:t>Overstocked inventory exists</a:t>
                      </a:r>
                    </a:p>
                  </a:txBody>
                  <a:tcPr marL="80863" marR="80863" marT="40432" marB="40432" anchor="ctr">
                    <a:lnL>
                      <a:noFill/>
                    </a:lnL>
                    <a:lnR>
                      <a:noFill/>
                    </a:lnR>
                    <a:lnT>
                      <a:noFill/>
                    </a:lnT>
                    <a:lnB>
                      <a:noFill/>
                    </a:lnB>
                    <a:noFill/>
                  </a:tcPr>
                </a:tc>
                <a:extLst>
                  <a:ext uri="{0D108BD9-81ED-4DB2-BD59-A6C34878D82A}">
                    <a16:rowId xmlns:a16="http://schemas.microsoft.com/office/drawing/2014/main" val="1994448054"/>
                  </a:ext>
                </a:extLst>
              </a:tr>
              <a:tr h="734479">
                <a:tc>
                  <a:txBody>
                    <a:bodyPr/>
                    <a:lstStyle/>
                    <a:p>
                      <a:pPr marL="285750" indent="-285750">
                        <a:buFont typeface="Wingdings" panose="05000000000000000000" pitchFamily="2" charset="2"/>
                        <a:buChar char="Ø"/>
                      </a:pPr>
                      <a:r>
                        <a:rPr lang="en-IN" sz="1600" b="0" dirty="0">
                          <a:latin typeface="Bookman Old Style" panose="02050604050505020204" pitchFamily="18" charset="0"/>
                        </a:rPr>
                        <a:t>Inventory imbalance exists</a:t>
                      </a:r>
                    </a:p>
                  </a:txBody>
                  <a:tcPr marL="80863" marR="80863" marT="40432" marB="40432" anchor="ctr">
                    <a:lnL>
                      <a:noFill/>
                    </a:lnL>
                    <a:lnR>
                      <a:noFill/>
                    </a:lnR>
                    <a:lnT>
                      <a:noFill/>
                    </a:lnT>
                    <a:lnB>
                      <a:noFill/>
                    </a:lnB>
                    <a:noFill/>
                  </a:tcPr>
                </a:tc>
                <a:extLst>
                  <a:ext uri="{0D108BD9-81ED-4DB2-BD59-A6C34878D82A}">
                    <a16:rowId xmlns:a16="http://schemas.microsoft.com/office/drawing/2014/main" val="2953407430"/>
                  </a:ext>
                </a:extLst>
              </a:tr>
              <a:tr h="737725">
                <a:tc>
                  <a:txBody>
                    <a:bodyPr/>
                    <a:lstStyle/>
                    <a:p>
                      <a:pPr marL="285750" indent="-285750">
                        <a:buFont typeface="Wingdings" panose="05000000000000000000" pitchFamily="2" charset="2"/>
                        <a:buChar char="Ø"/>
                      </a:pPr>
                      <a:r>
                        <a:rPr lang="en-IN" sz="1600" b="0" dirty="0">
                          <a:latin typeface="Bookman Old Style" panose="02050604050505020204" pitchFamily="18" charset="0"/>
                        </a:rPr>
                        <a:t>High-performing products drive revenue</a:t>
                      </a:r>
                    </a:p>
                  </a:txBody>
                  <a:tcPr marL="80863" marR="80863" marT="40432" marB="40432" anchor="ctr">
                    <a:lnL>
                      <a:noFill/>
                    </a:lnL>
                    <a:lnR>
                      <a:noFill/>
                    </a:lnR>
                    <a:lnT>
                      <a:noFill/>
                    </a:lnT>
                    <a:lnB>
                      <a:noFill/>
                    </a:lnB>
                    <a:noFill/>
                  </a:tcPr>
                </a:tc>
                <a:extLst>
                  <a:ext uri="{0D108BD9-81ED-4DB2-BD59-A6C34878D82A}">
                    <a16:rowId xmlns:a16="http://schemas.microsoft.com/office/drawing/2014/main" val="3365230609"/>
                  </a:ext>
                </a:extLst>
              </a:tr>
              <a:tr h="734479">
                <a:tc>
                  <a:txBody>
                    <a:bodyPr/>
                    <a:lstStyle/>
                    <a:p>
                      <a:pPr marL="285750" indent="-285750">
                        <a:buFont typeface="Wingdings" panose="05000000000000000000" pitchFamily="2" charset="2"/>
                        <a:buChar char="Ø"/>
                      </a:pPr>
                      <a:r>
                        <a:rPr lang="en-IN" sz="1600" b="0" dirty="0">
                          <a:latin typeface="Bookman Old Style" panose="02050604050505020204" pitchFamily="18" charset="0"/>
                        </a:rPr>
                        <a:t>Regional sales vary</a:t>
                      </a:r>
                    </a:p>
                  </a:txBody>
                  <a:tcPr marL="80863" marR="80863" marT="40432" marB="40432" anchor="ctr">
                    <a:lnL>
                      <a:noFill/>
                    </a:lnL>
                    <a:lnR>
                      <a:noFill/>
                    </a:lnR>
                    <a:lnT>
                      <a:noFill/>
                    </a:lnT>
                    <a:lnB>
                      <a:noFill/>
                    </a:lnB>
                    <a:noFill/>
                  </a:tcPr>
                </a:tc>
                <a:extLst>
                  <a:ext uri="{0D108BD9-81ED-4DB2-BD59-A6C34878D82A}">
                    <a16:rowId xmlns:a16="http://schemas.microsoft.com/office/drawing/2014/main" val="2267785529"/>
                  </a:ext>
                </a:extLst>
              </a:tr>
              <a:tr h="454983">
                <a:tc>
                  <a:txBody>
                    <a:bodyPr/>
                    <a:lstStyle/>
                    <a:p>
                      <a:pPr marL="285750" indent="-285750">
                        <a:buFont typeface="Wingdings" panose="05000000000000000000" pitchFamily="2" charset="2"/>
                        <a:buChar char="Ø"/>
                      </a:pPr>
                      <a:r>
                        <a:rPr lang="en-IN" sz="1600" b="0" dirty="0">
                          <a:latin typeface="Bookman Old Style" panose="02050604050505020204" pitchFamily="18" charset="0"/>
                        </a:rPr>
                        <a:t>Historical demand patterns exist</a:t>
                      </a:r>
                    </a:p>
                  </a:txBody>
                  <a:tcPr marL="80863" marR="80863" marT="40432" marB="40432" anchor="ctr">
                    <a:lnL>
                      <a:noFill/>
                    </a:lnL>
                    <a:lnR>
                      <a:noFill/>
                    </a:lnR>
                    <a:lnT>
                      <a:noFill/>
                    </a:lnT>
                    <a:lnB>
                      <a:noFill/>
                    </a:lnB>
                    <a:noFill/>
                  </a:tcPr>
                </a:tc>
                <a:extLst>
                  <a:ext uri="{0D108BD9-81ED-4DB2-BD59-A6C34878D82A}">
                    <a16:rowId xmlns:a16="http://schemas.microsoft.com/office/drawing/2014/main" val="164782360"/>
                  </a:ext>
                </a:extLst>
              </a:tr>
              <a:tr h="734479">
                <a:tc>
                  <a:txBody>
                    <a:bodyPr/>
                    <a:lstStyle/>
                    <a:p>
                      <a:pPr marL="285750" indent="-285750">
                        <a:buFont typeface="Wingdings" panose="05000000000000000000" pitchFamily="2" charset="2"/>
                        <a:buChar char="Ø"/>
                      </a:pPr>
                      <a:r>
                        <a:rPr lang="en-IN" sz="1600" b="0" dirty="0">
                          <a:latin typeface="Bookman Old Style" panose="02050604050505020204" pitchFamily="18" charset="0"/>
                        </a:rPr>
                        <a:t>Forecast accuracy ≈ 94%</a:t>
                      </a:r>
                    </a:p>
                  </a:txBody>
                  <a:tcPr marL="80863" marR="80863" marT="40432" marB="40432" anchor="ctr">
                    <a:lnL>
                      <a:noFill/>
                    </a:lnL>
                    <a:lnR>
                      <a:noFill/>
                    </a:lnR>
                    <a:lnT>
                      <a:noFill/>
                    </a:lnT>
                    <a:lnB>
                      <a:noFill/>
                    </a:lnB>
                    <a:noFill/>
                  </a:tcPr>
                </a:tc>
                <a:extLst>
                  <a:ext uri="{0D108BD9-81ED-4DB2-BD59-A6C34878D82A}">
                    <a16:rowId xmlns:a16="http://schemas.microsoft.com/office/drawing/2014/main" val="1787695540"/>
                  </a:ext>
                </a:extLst>
              </a:tr>
              <a:tr h="796657">
                <a:tc>
                  <a:txBody>
                    <a:bodyPr/>
                    <a:lstStyle/>
                    <a:p>
                      <a:pPr marL="285750" indent="-285750">
                        <a:buFont typeface="Wingdings" panose="05000000000000000000" pitchFamily="2" charset="2"/>
                        <a:buChar char="Ø"/>
                      </a:pPr>
                      <a:r>
                        <a:rPr lang="en-US" sz="1600" b="0" dirty="0">
                          <a:latin typeface="Bookman Old Style" panose="02050604050505020204" pitchFamily="18" charset="0"/>
                        </a:rPr>
                        <a:t>Discounts represent significant sales value</a:t>
                      </a:r>
                    </a:p>
                  </a:txBody>
                  <a:tcPr marL="80863" marR="80863" marT="40432" marB="40432" anchor="ctr">
                    <a:lnL>
                      <a:noFill/>
                    </a:lnL>
                    <a:lnR>
                      <a:noFill/>
                    </a:lnR>
                    <a:lnT>
                      <a:noFill/>
                    </a:lnT>
                    <a:lnB>
                      <a:noFill/>
                    </a:lnB>
                    <a:noFill/>
                  </a:tcPr>
                </a:tc>
                <a:extLst>
                  <a:ext uri="{0D108BD9-81ED-4DB2-BD59-A6C34878D82A}">
                    <a16:rowId xmlns:a16="http://schemas.microsoft.com/office/drawing/2014/main" val="539021948"/>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4571886" cy="6122893"/>
          </a:xfrm>
          <a:prstGeom prst="rect">
            <a:avLst/>
          </a:prstGeom>
          <a:solidFill>
            <a:srgbClr val="E8E8E3"/>
          </a:solidFill>
          <a:ln/>
        </p:spPr>
      </p:sp>
      <p:pic>
        <p:nvPicPr>
          <p:cNvPr id="3" name="Image 0" descr="preencoded.png"/>
          <p:cNvPicPr>
            <a:picLocks noChangeAspect="1"/>
          </p:cNvPicPr>
          <p:nvPr/>
        </p:nvPicPr>
        <p:blipFill>
          <a:blip r:embed="rId3"/>
          <a:stretch>
            <a:fillRect/>
          </a:stretch>
        </p:blipFill>
        <p:spPr>
          <a:xfrm>
            <a:off x="4783798" y="1461301"/>
            <a:ext cx="4047354" cy="5396699"/>
          </a:xfrm>
          <a:prstGeom prst="rect">
            <a:avLst/>
          </a:prstGeom>
        </p:spPr>
      </p:pic>
      <p:sp>
        <p:nvSpPr>
          <p:cNvPr id="4" name="Text 1"/>
          <p:cNvSpPr/>
          <p:nvPr/>
        </p:nvSpPr>
        <p:spPr>
          <a:xfrm>
            <a:off x="195195" y="141378"/>
            <a:ext cx="3928570" cy="590649"/>
          </a:xfrm>
          <a:prstGeom prst="rect">
            <a:avLst/>
          </a:prstGeom>
          <a:noFill/>
          <a:ln/>
        </p:spPr>
        <p:txBody>
          <a:bodyPr wrap="none" lIns="0" tIns="0" rIns="0" bIns="0" rtlCol="0" anchor="t"/>
          <a:lstStyle/>
          <a:p>
            <a:pPr>
              <a:lnSpc>
                <a:spcPct val="104000"/>
              </a:lnSpc>
            </a:pPr>
            <a:r>
              <a:rPr lang="en-IN" sz="3700" dirty="0">
                <a:solidFill>
                  <a:srgbClr val="312F2B"/>
                </a:solidFill>
                <a:latin typeface="Gelasio" pitchFamily="34" charset="0"/>
                <a:cs typeface="Gelasio" pitchFamily="34" charset="-120"/>
              </a:rPr>
              <a:t>Business Decision</a:t>
            </a:r>
          </a:p>
          <a:p>
            <a:pPr marL="0" indent="0" algn="l">
              <a:lnSpc>
                <a:spcPct val="104000"/>
              </a:lnSpc>
              <a:buNone/>
            </a:pPr>
            <a:endParaRPr lang="en-US" sz="3700" dirty="0"/>
          </a:p>
        </p:txBody>
      </p:sp>
      <p:sp>
        <p:nvSpPr>
          <p:cNvPr id="6" name="Shape 3"/>
          <p:cNvSpPr/>
          <p:nvPr/>
        </p:nvSpPr>
        <p:spPr>
          <a:xfrm>
            <a:off x="4666340" y="31231"/>
            <a:ext cx="5929942" cy="2440413"/>
          </a:xfrm>
          <a:prstGeom prst="roundRect">
            <a:avLst>
              <a:gd name="adj" fmla="val 2840"/>
            </a:avLst>
          </a:prstGeom>
          <a:solidFill>
            <a:schemeClr val="bg1"/>
          </a:solidFill>
          <a:ln w="6350">
            <a:solidFill>
              <a:srgbClr val="CECEC9"/>
            </a:solidFill>
            <a:prstDash val="solid"/>
          </a:ln>
        </p:spPr>
      </p:sp>
      <p:sp>
        <p:nvSpPr>
          <p:cNvPr id="7" name="Shape 4"/>
          <p:cNvSpPr/>
          <p:nvPr/>
        </p:nvSpPr>
        <p:spPr>
          <a:xfrm>
            <a:off x="4672690" y="31231"/>
            <a:ext cx="2629458" cy="1478642"/>
          </a:xfrm>
          <a:custGeom>
            <a:avLst/>
            <a:gdLst/>
            <a:ahLst/>
            <a:cxnLst/>
            <a:rect l="l" t="t" r="r" b="b"/>
            <a:pathLst>
              <a:path w="3142080" h="1693962">
                <a:moveTo>
                  <a:pt x="66156" y="0"/>
                </a:moveTo>
                <a:lnTo>
                  <a:pt x="3142080" y="0"/>
                </a:lnTo>
                <a:lnTo>
                  <a:pt x="3142080" y="1693962"/>
                </a:lnTo>
                <a:lnTo>
                  <a:pt x="0" y="1693962"/>
                </a:lnTo>
                <a:lnTo>
                  <a:pt x="0" y="66158"/>
                </a:lnTo>
                <a:arcTo wR="66156" hR="66158" stAng="10800000" swAng="5400000"/>
                <a:close/>
              </a:path>
            </a:pathLst>
          </a:custGeom>
          <a:solidFill>
            <a:schemeClr val="bg1"/>
          </a:solidFill>
          <a:ln/>
        </p:spPr>
      </p:sp>
      <p:sp>
        <p:nvSpPr>
          <p:cNvPr id="8" name="Text 5"/>
          <p:cNvSpPr/>
          <p:nvPr/>
        </p:nvSpPr>
        <p:spPr>
          <a:xfrm>
            <a:off x="4861697" y="220243"/>
            <a:ext cx="2313116" cy="257743"/>
          </a:xfrm>
          <a:prstGeom prst="rect">
            <a:avLst/>
          </a:prstGeom>
          <a:noFill/>
          <a:ln/>
        </p:spPr>
        <p:txBody>
          <a:bodyPr wrap="none" lIns="0" tIns="0" rIns="0" bIns="0" rtlCol="0" anchor="t"/>
          <a:lstStyle/>
          <a:p>
            <a:pPr marL="0" indent="0" algn="l">
              <a:lnSpc>
                <a:spcPct val="104000"/>
              </a:lnSpc>
              <a:buNone/>
            </a:pPr>
            <a:r>
              <a:rPr lang="en-US" sz="1850" b="1" dirty="0">
                <a:solidFill>
                  <a:srgbClr val="272525"/>
                </a:solidFill>
                <a:latin typeface="Gelasio" pitchFamily="34" charset="0"/>
                <a:ea typeface="Gelasio" pitchFamily="34" charset="-122"/>
                <a:cs typeface="Gelasio" pitchFamily="34" charset="-120"/>
              </a:rPr>
              <a:t>The Risk of Inaction</a:t>
            </a:r>
            <a:endParaRPr lang="en-US" sz="1850" b="1" dirty="0"/>
          </a:p>
        </p:txBody>
      </p:sp>
      <p:sp>
        <p:nvSpPr>
          <p:cNvPr id="9" name="Text 6"/>
          <p:cNvSpPr/>
          <p:nvPr/>
        </p:nvSpPr>
        <p:spPr>
          <a:xfrm>
            <a:off x="4861697" y="628925"/>
            <a:ext cx="2313116" cy="791934"/>
          </a:xfrm>
          <a:prstGeom prst="rect">
            <a:avLst/>
          </a:prstGeom>
          <a:noFill/>
          <a:ln/>
        </p:spPr>
        <p:txBody>
          <a:bodyPr wrap="square" lIns="0" tIns="0" rIns="0" bIns="0" rtlCol="0" anchor="t">
            <a:normAutofit lnSpcReduction="10000"/>
          </a:bodyPr>
          <a:lstStyle/>
          <a:p>
            <a:pPr marL="0" indent="0" algn="l">
              <a:lnSpc>
                <a:spcPct val="133000"/>
              </a:lnSpc>
              <a:buNone/>
            </a:pPr>
            <a:r>
              <a:rPr lang="en-US" sz="1450" dirty="0">
                <a:solidFill>
                  <a:srgbClr val="272525"/>
                </a:solidFill>
                <a:latin typeface="Lato" pitchFamily="34" charset="0"/>
                <a:ea typeface="Lato" pitchFamily="34" charset="-122"/>
                <a:cs typeface="Lato" pitchFamily="34" charset="-120"/>
              </a:rPr>
              <a:t>Manual processes cannot scale. Demand volatility will only increase.</a:t>
            </a:r>
            <a:endParaRPr lang="en-US" sz="1450" dirty="0"/>
          </a:p>
        </p:txBody>
      </p:sp>
      <p:sp>
        <p:nvSpPr>
          <p:cNvPr id="11" name="Shape 8"/>
          <p:cNvSpPr/>
          <p:nvPr/>
        </p:nvSpPr>
        <p:spPr>
          <a:xfrm>
            <a:off x="7584384" y="204871"/>
            <a:ext cx="45719" cy="1478643"/>
          </a:xfrm>
          <a:prstGeom prst="roundRect">
            <a:avLst>
              <a:gd name="adj" fmla="val 50001"/>
            </a:avLst>
          </a:prstGeom>
          <a:solidFill>
            <a:srgbClr val="CECEC9"/>
          </a:solidFill>
          <a:ln/>
        </p:spPr>
      </p:sp>
      <p:sp>
        <p:nvSpPr>
          <p:cNvPr id="12" name="Text 9"/>
          <p:cNvSpPr/>
          <p:nvPr/>
        </p:nvSpPr>
        <p:spPr>
          <a:xfrm>
            <a:off x="8003777" y="220243"/>
            <a:ext cx="2313116" cy="257743"/>
          </a:xfrm>
          <a:prstGeom prst="rect">
            <a:avLst/>
          </a:prstGeom>
          <a:noFill/>
          <a:ln/>
        </p:spPr>
        <p:txBody>
          <a:bodyPr wrap="none" lIns="0" tIns="0" rIns="0" bIns="0" rtlCol="0" anchor="t"/>
          <a:lstStyle/>
          <a:p>
            <a:pPr marL="0" indent="0" algn="l">
              <a:lnSpc>
                <a:spcPct val="104000"/>
              </a:lnSpc>
              <a:buNone/>
            </a:pPr>
            <a:r>
              <a:rPr lang="en-US" sz="1850" b="1" dirty="0">
                <a:solidFill>
                  <a:srgbClr val="272525"/>
                </a:solidFill>
                <a:latin typeface="Gelasio" pitchFamily="34" charset="0"/>
                <a:ea typeface="Gelasio" pitchFamily="34" charset="-122"/>
                <a:cs typeface="Gelasio" pitchFamily="34" charset="-120"/>
              </a:rPr>
              <a:t>The Opportunity</a:t>
            </a:r>
            <a:endParaRPr lang="en-US" sz="1850" b="1" dirty="0"/>
          </a:p>
        </p:txBody>
      </p:sp>
      <p:sp>
        <p:nvSpPr>
          <p:cNvPr id="13" name="Text 10"/>
          <p:cNvSpPr/>
          <p:nvPr/>
        </p:nvSpPr>
        <p:spPr>
          <a:xfrm>
            <a:off x="8003777" y="628925"/>
            <a:ext cx="2313116" cy="791934"/>
          </a:xfrm>
          <a:prstGeom prst="rect">
            <a:avLst/>
          </a:prstGeom>
          <a:noFill/>
          <a:ln/>
        </p:spPr>
        <p:txBody>
          <a:bodyPr wrap="square" lIns="0" tIns="0" rIns="0" bIns="0" rtlCol="0" anchor="t">
            <a:normAutofit lnSpcReduction="10000"/>
          </a:bodyPr>
          <a:lstStyle/>
          <a:p>
            <a:pPr marL="0" indent="0" algn="l">
              <a:lnSpc>
                <a:spcPct val="133000"/>
              </a:lnSpc>
              <a:buNone/>
            </a:pPr>
            <a:r>
              <a:rPr lang="en-US" sz="1450" dirty="0">
                <a:solidFill>
                  <a:srgbClr val="272525"/>
                </a:solidFill>
                <a:latin typeface="Lato" pitchFamily="34" charset="0"/>
                <a:ea typeface="Lato" pitchFamily="34" charset="-122"/>
                <a:cs typeface="Lato" pitchFamily="34" charset="-120"/>
              </a:rPr>
              <a:t>An intelligent system pays for itself through stockout prevention alone.</a:t>
            </a:r>
            <a:endParaRPr lang="en-US" sz="1450" dirty="0"/>
          </a:p>
        </p:txBody>
      </p:sp>
      <p:sp>
        <p:nvSpPr>
          <p:cNvPr id="15" name="Shape 12"/>
          <p:cNvSpPr/>
          <p:nvPr/>
        </p:nvSpPr>
        <p:spPr>
          <a:xfrm flipV="1">
            <a:off x="4672689" y="2467573"/>
            <a:ext cx="5923593" cy="45719"/>
          </a:xfrm>
          <a:prstGeom prst="roundRect">
            <a:avLst>
              <a:gd name="adj" fmla="val 49999"/>
            </a:avLst>
          </a:prstGeom>
          <a:solidFill>
            <a:srgbClr val="CECEC9"/>
          </a:solidFill>
          <a:ln/>
        </p:spPr>
      </p:sp>
      <p:sp>
        <p:nvSpPr>
          <p:cNvPr id="16" name="Text 13"/>
          <p:cNvSpPr/>
          <p:nvPr/>
        </p:nvSpPr>
        <p:spPr>
          <a:xfrm>
            <a:off x="4861697" y="1790175"/>
            <a:ext cx="4942574" cy="257743"/>
          </a:xfrm>
          <a:prstGeom prst="rect">
            <a:avLst/>
          </a:prstGeom>
          <a:noFill/>
          <a:ln/>
        </p:spPr>
        <p:txBody>
          <a:bodyPr wrap="none" lIns="0" tIns="0" rIns="0" bIns="0" rtlCol="0" anchor="t"/>
          <a:lstStyle/>
          <a:p>
            <a:pPr marL="0" indent="0" algn="l">
              <a:lnSpc>
                <a:spcPct val="104000"/>
              </a:lnSpc>
              <a:buNone/>
            </a:pPr>
            <a:r>
              <a:rPr lang="en-US" sz="1850" dirty="0">
                <a:solidFill>
                  <a:srgbClr val="272525"/>
                </a:solidFill>
                <a:latin typeface="Gelasio" pitchFamily="34" charset="0"/>
                <a:ea typeface="Gelasio" pitchFamily="34" charset="-122"/>
                <a:cs typeface="Gelasio" pitchFamily="34" charset="-120"/>
              </a:rPr>
              <a:t>The Decision</a:t>
            </a:r>
            <a:endParaRPr lang="en-US" sz="1850" dirty="0"/>
          </a:p>
        </p:txBody>
      </p:sp>
      <p:sp>
        <p:nvSpPr>
          <p:cNvPr id="17" name="Text 14"/>
          <p:cNvSpPr/>
          <p:nvPr/>
        </p:nvSpPr>
        <p:spPr>
          <a:xfrm>
            <a:off x="4861697" y="2096934"/>
            <a:ext cx="4942574" cy="263978"/>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Lato" pitchFamily="34" charset="0"/>
                <a:ea typeface="Lato" pitchFamily="34" charset="-122"/>
                <a:cs typeface="Lato" pitchFamily="34" charset="-120"/>
              </a:rPr>
              <a:t>Automate, integrate, and gain full supply chain visibility — now.</a:t>
            </a:r>
            <a:endParaRPr lang="en-US" sz="1450" dirty="0"/>
          </a:p>
        </p:txBody>
      </p:sp>
      <p:graphicFrame>
        <p:nvGraphicFramePr>
          <p:cNvPr id="18" name="Table 17">
            <a:extLst>
              <a:ext uri="{FF2B5EF4-FFF2-40B4-BE49-F238E27FC236}">
                <a16:creationId xmlns:a16="http://schemas.microsoft.com/office/drawing/2014/main" id="{87D45810-E380-94D0-F19F-C126C26B3F63}"/>
              </a:ext>
            </a:extLst>
          </p:cNvPr>
          <p:cNvGraphicFramePr>
            <a:graphicFrameLocks noGrp="1"/>
          </p:cNvGraphicFramePr>
          <p:nvPr>
            <p:extLst>
              <p:ext uri="{D42A27DB-BD31-4B8C-83A1-F6EECF244321}">
                <p14:modId xmlns:p14="http://schemas.microsoft.com/office/powerpoint/2010/main" val="2797763304"/>
              </p:ext>
            </p:extLst>
          </p:nvPr>
        </p:nvGraphicFramePr>
        <p:xfrm>
          <a:off x="201290" y="380341"/>
          <a:ext cx="4373722" cy="5572222"/>
        </p:xfrm>
        <a:graphic>
          <a:graphicData uri="http://schemas.openxmlformats.org/drawingml/2006/table">
            <a:tbl>
              <a:tblPr/>
              <a:tblGrid>
                <a:gridCol w="4373722">
                  <a:extLst>
                    <a:ext uri="{9D8B030D-6E8A-4147-A177-3AD203B41FA5}">
                      <a16:colId xmlns:a16="http://schemas.microsoft.com/office/drawing/2014/main" val="3167868928"/>
                    </a:ext>
                  </a:extLst>
                </a:gridCol>
              </a:tblGrid>
              <a:tr h="409589">
                <a:tc>
                  <a:txBody>
                    <a:bodyPr/>
                    <a:lstStyle/>
                    <a:p>
                      <a:pPr marL="285750" indent="-285750" algn="l">
                        <a:buFont typeface="Wingdings" panose="05000000000000000000" pitchFamily="2" charset="2"/>
                        <a:buChar char="Ø"/>
                      </a:pPr>
                      <a:endParaRPr lang="en-IN" sz="1600" dirty="0">
                        <a:latin typeface="Bookman Old Style" panose="02050604050505020204" pitchFamily="18" charset="0"/>
                      </a:endParaRPr>
                    </a:p>
                  </a:txBody>
                  <a:tcPr marL="80863" marR="80863" marT="40432" marB="40432" anchor="ctr">
                    <a:lnL>
                      <a:noFill/>
                    </a:lnL>
                    <a:lnR>
                      <a:noFill/>
                    </a:lnR>
                    <a:lnT>
                      <a:noFill/>
                    </a:lnT>
                    <a:lnB>
                      <a:noFill/>
                    </a:lnB>
                    <a:noFill/>
                  </a:tcPr>
                </a:tc>
                <a:extLst>
                  <a:ext uri="{0D108BD9-81ED-4DB2-BD59-A6C34878D82A}">
                    <a16:rowId xmlns:a16="http://schemas.microsoft.com/office/drawing/2014/main" val="3558670509"/>
                  </a:ext>
                </a:extLst>
              </a:tr>
              <a:tr h="532020">
                <a:tc>
                  <a:txBody>
                    <a:bodyPr/>
                    <a:lstStyle/>
                    <a:p>
                      <a:pPr marL="285750" indent="-285750" algn="l">
                        <a:buFont typeface="Wingdings" panose="05000000000000000000" pitchFamily="2" charset="2"/>
                        <a:buChar char="Ø"/>
                      </a:pPr>
                      <a:r>
                        <a:rPr lang="en-IN" sz="1600" dirty="0">
                          <a:latin typeface="Bookman Old Style" panose="02050604050505020204" pitchFamily="18" charset="0"/>
                        </a:rPr>
                        <a:t>Prioritize replenishment</a:t>
                      </a:r>
                    </a:p>
                  </a:txBody>
                  <a:tcPr marL="80863" marR="80863" marT="40432" marB="40432" anchor="ctr">
                    <a:lnL>
                      <a:noFill/>
                    </a:lnL>
                    <a:lnR>
                      <a:noFill/>
                    </a:lnR>
                    <a:lnT>
                      <a:noFill/>
                    </a:lnT>
                    <a:lnB>
                      <a:noFill/>
                    </a:lnB>
                    <a:noFill/>
                  </a:tcPr>
                </a:tc>
                <a:extLst>
                  <a:ext uri="{0D108BD9-81ED-4DB2-BD59-A6C34878D82A}">
                    <a16:rowId xmlns:a16="http://schemas.microsoft.com/office/drawing/2014/main" val="381547503"/>
                  </a:ext>
                </a:extLst>
              </a:tr>
              <a:tr h="611835">
                <a:tc>
                  <a:txBody>
                    <a:bodyPr/>
                    <a:lstStyle/>
                    <a:p>
                      <a:pPr marL="285750" indent="-285750" algn="l">
                        <a:buFont typeface="Wingdings" panose="05000000000000000000" pitchFamily="2" charset="2"/>
                        <a:buChar char="Ø"/>
                      </a:pPr>
                      <a:r>
                        <a:rPr lang="en-US" sz="1600" dirty="0">
                          <a:latin typeface="Bookman Old Style" panose="02050604050505020204" pitchFamily="18" charset="0"/>
                        </a:rPr>
                        <a:t>Review and control future ordering</a:t>
                      </a:r>
                    </a:p>
                  </a:txBody>
                  <a:tcPr marL="80863" marR="80863" marT="40432" marB="40432" anchor="ctr">
                    <a:lnL>
                      <a:noFill/>
                    </a:lnL>
                    <a:lnR>
                      <a:noFill/>
                    </a:lnR>
                    <a:lnT>
                      <a:noFill/>
                    </a:lnT>
                    <a:lnB>
                      <a:noFill/>
                    </a:lnB>
                    <a:noFill/>
                  </a:tcPr>
                </a:tc>
                <a:extLst>
                  <a:ext uri="{0D108BD9-81ED-4DB2-BD59-A6C34878D82A}">
                    <a16:rowId xmlns:a16="http://schemas.microsoft.com/office/drawing/2014/main" val="3757984229"/>
                  </a:ext>
                </a:extLst>
              </a:tr>
              <a:tr h="760195">
                <a:tc>
                  <a:txBody>
                    <a:bodyPr/>
                    <a:lstStyle/>
                    <a:p>
                      <a:pPr marL="285750" indent="-285750" algn="l">
                        <a:buFont typeface="Wingdings" panose="05000000000000000000" pitchFamily="2" charset="2"/>
                        <a:buChar char="Ø"/>
                      </a:pPr>
                      <a:r>
                        <a:rPr lang="en-US" sz="1600" dirty="0">
                          <a:latin typeface="Bookman Old Style" panose="02050604050505020204" pitchFamily="18" charset="0"/>
                        </a:rPr>
                        <a:t>Optimize allocation rather than simply increasing stock</a:t>
                      </a:r>
                    </a:p>
                  </a:txBody>
                  <a:tcPr marL="80863" marR="80863" marT="40432" marB="40432" anchor="ctr">
                    <a:lnL>
                      <a:noFill/>
                    </a:lnL>
                    <a:lnR>
                      <a:noFill/>
                    </a:lnR>
                    <a:lnT>
                      <a:noFill/>
                    </a:lnT>
                    <a:lnB>
                      <a:noFill/>
                    </a:lnB>
                    <a:noFill/>
                  </a:tcPr>
                </a:tc>
                <a:extLst>
                  <a:ext uri="{0D108BD9-81ED-4DB2-BD59-A6C34878D82A}">
                    <a16:rowId xmlns:a16="http://schemas.microsoft.com/office/drawing/2014/main" val="719934097"/>
                  </a:ext>
                </a:extLst>
              </a:tr>
              <a:tr h="532020">
                <a:tc>
                  <a:txBody>
                    <a:bodyPr/>
                    <a:lstStyle/>
                    <a:p>
                      <a:pPr marL="285750" indent="-285750" algn="l">
                        <a:buFont typeface="Wingdings" panose="05000000000000000000" pitchFamily="2" charset="2"/>
                        <a:buChar char="Ø"/>
                      </a:pPr>
                      <a:r>
                        <a:rPr lang="en-IN" sz="1600" dirty="0">
                          <a:latin typeface="Bookman Old Style" panose="02050604050505020204" pitchFamily="18" charset="0"/>
                        </a:rPr>
                        <a:t>Protect their availability</a:t>
                      </a:r>
                    </a:p>
                  </a:txBody>
                  <a:tcPr marL="80863" marR="80863" marT="40432" marB="40432" anchor="ctr">
                    <a:lnL>
                      <a:noFill/>
                    </a:lnL>
                    <a:lnR>
                      <a:noFill/>
                    </a:lnR>
                    <a:lnT>
                      <a:noFill/>
                    </a:lnT>
                    <a:lnB>
                      <a:noFill/>
                    </a:lnB>
                    <a:noFill/>
                  </a:tcPr>
                </a:tc>
                <a:extLst>
                  <a:ext uri="{0D108BD9-81ED-4DB2-BD59-A6C34878D82A}">
                    <a16:rowId xmlns:a16="http://schemas.microsoft.com/office/drawing/2014/main" val="1817336663"/>
                  </a:ext>
                </a:extLst>
              </a:tr>
              <a:tr h="717174">
                <a:tc>
                  <a:txBody>
                    <a:bodyPr/>
                    <a:lstStyle/>
                    <a:p>
                      <a:pPr marL="285750" indent="-285750" algn="l">
                        <a:buFont typeface="Wingdings" panose="05000000000000000000" pitchFamily="2" charset="2"/>
                        <a:buChar char="Ø"/>
                      </a:pPr>
                      <a:r>
                        <a:rPr lang="en-US" sz="1600" dirty="0">
                          <a:latin typeface="Bookman Old Style" panose="02050604050505020204" pitchFamily="18" charset="0"/>
                        </a:rPr>
                        <a:t>Allocate inventory based on regional demand</a:t>
                      </a:r>
                    </a:p>
                  </a:txBody>
                  <a:tcPr marL="80863" marR="80863" marT="40432" marB="40432" anchor="ctr">
                    <a:lnL>
                      <a:noFill/>
                    </a:lnL>
                    <a:lnR>
                      <a:noFill/>
                    </a:lnR>
                    <a:lnT>
                      <a:noFill/>
                    </a:lnT>
                    <a:lnB>
                      <a:noFill/>
                    </a:lnB>
                    <a:noFill/>
                  </a:tcPr>
                </a:tc>
                <a:extLst>
                  <a:ext uri="{0D108BD9-81ED-4DB2-BD59-A6C34878D82A}">
                    <a16:rowId xmlns:a16="http://schemas.microsoft.com/office/drawing/2014/main" val="3143103504"/>
                  </a:ext>
                </a:extLst>
              </a:tr>
              <a:tr h="532020">
                <a:tc>
                  <a:txBody>
                    <a:bodyPr/>
                    <a:lstStyle/>
                    <a:p>
                      <a:pPr marL="285750" indent="-285750" algn="l">
                        <a:buFont typeface="Wingdings" panose="05000000000000000000" pitchFamily="2" charset="2"/>
                        <a:buChar char="Ø"/>
                      </a:pPr>
                      <a:r>
                        <a:rPr lang="en-US" sz="1600" dirty="0">
                          <a:latin typeface="Bookman Old Style" panose="02050604050505020204" pitchFamily="18" charset="0"/>
                        </a:rPr>
                        <a:t>Use them for inventory planning</a:t>
                      </a:r>
                    </a:p>
                  </a:txBody>
                  <a:tcPr marL="80863" marR="80863" marT="40432" marB="40432" anchor="ctr">
                    <a:lnL>
                      <a:noFill/>
                    </a:lnL>
                    <a:lnR>
                      <a:noFill/>
                    </a:lnR>
                    <a:lnT>
                      <a:noFill/>
                    </a:lnT>
                    <a:lnB>
                      <a:noFill/>
                    </a:lnB>
                    <a:noFill/>
                  </a:tcPr>
                </a:tc>
                <a:extLst>
                  <a:ext uri="{0D108BD9-81ED-4DB2-BD59-A6C34878D82A}">
                    <a16:rowId xmlns:a16="http://schemas.microsoft.com/office/drawing/2014/main" val="4065685659"/>
                  </a:ext>
                </a:extLst>
              </a:tr>
              <a:tr h="717174">
                <a:tc>
                  <a:txBody>
                    <a:bodyPr/>
                    <a:lstStyle/>
                    <a:p>
                      <a:pPr marL="285750" indent="-285750" algn="l">
                        <a:buFont typeface="Wingdings" panose="05000000000000000000" pitchFamily="2" charset="2"/>
                        <a:buChar char="Ø"/>
                      </a:pPr>
                      <a:r>
                        <a:rPr lang="en-US" sz="1600" dirty="0">
                          <a:latin typeface="Bookman Old Style" panose="02050604050505020204" pitchFamily="18" charset="0"/>
                        </a:rPr>
                        <a:t>Incorporate forecast demand into replenishment</a:t>
                      </a:r>
                    </a:p>
                  </a:txBody>
                  <a:tcPr marL="80863" marR="80863" marT="40432" marB="40432" anchor="ctr">
                    <a:lnL>
                      <a:noFill/>
                    </a:lnL>
                    <a:lnR>
                      <a:noFill/>
                    </a:lnR>
                    <a:lnT>
                      <a:noFill/>
                    </a:lnT>
                    <a:lnB>
                      <a:noFill/>
                    </a:lnB>
                    <a:noFill/>
                  </a:tcPr>
                </a:tc>
                <a:extLst>
                  <a:ext uri="{0D108BD9-81ED-4DB2-BD59-A6C34878D82A}">
                    <a16:rowId xmlns:a16="http://schemas.microsoft.com/office/drawing/2014/main" val="1562396741"/>
                  </a:ext>
                </a:extLst>
              </a:tr>
              <a:tr h="760195">
                <a:tc>
                  <a:txBody>
                    <a:bodyPr/>
                    <a:lstStyle/>
                    <a:p>
                      <a:pPr marL="285750" indent="-285750" algn="l">
                        <a:buFont typeface="Wingdings" panose="05000000000000000000" pitchFamily="2" charset="2"/>
                        <a:buChar char="Ø"/>
                      </a:pPr>
                      <a:r>
                        <a:rPr lang="en-US" sz="1600" dirty="0">
                          <a:latin typeface="Bookman Old Style" panose="02050604050505020204" pitchFamily="18" charset="0"/>
                        </a:rPr>
                        <a:t>Evaluate promotions against net sales and units sold</a:t>
                      </a:r>
                    </a:p>
                  </a:txBody>
                  <a:tcPr marL="80863" marR="80863" marT="40432" marB="40432" anchor="ctr">
                    <a:lnL>
                      <a:noFill/>
                    </a:lnL>
                    <a:lnR>
                      <a:noFill/>
                    </a:lnR>
                    <a:lnT>
                      <a:noFill/>
                    </a:lnT>
                    <a:lnB>
                      <a:noFill/>
                    </a:lnB>
                    <a:noFill/>
                  </a:tcPr>
                </a:tc>
                <a:extLst>
                  <a:ext uri="{0D108BD9-81ED-4DB2-BD59-A6C34878D82A}">
                    <a16:rowId xmlns:a16="http://schemas.microsoft.com/office/drawing/2014/main" val="2150511832"/>
                  </a:ext>
                </a:extLst>
              </a:tr>
            </a:tbl>
          </a:graphicData>
        </a:graphic>
      </p:graphicFrame>
      <p:sp>
        <p:nvSpPr>
          <p:cNvPr id="22" name="TextBox 21">
            <a:extLst>
              <a:ext uri="{FF2B5EF4-FFF2-40B4-BE49-F238E27FC236}">
                <a16:creationId xmlns:a16="http://schemas.microsoft.com/office/drawing/2014/main" id="{D2C55138-610E-2A1C-30AA-760FAB10C952}"/>
              </a:ext>
            </a:extLst>
          </p:cNvPr>
          <p:cNvSpPr txBox="1"/>
          <p:nvPr/>
        </p:nvSpPr>
        <p:spPr>
          <a:xfrm>
            <a:off x="-84194" y="6096771"/>
            <a:ext cx="10401087" cy="369332"/>
          </a:xfrm>
          <a:prstGeom prst="rect">
            <a:avLst/>
          </a:prstGeom>
          <a:noFill/>
        </p:spPr>
        <p:txBody>
          <a:bodyPr wrap="square">
            <a:spAutoFit/>
          </a:bodyPr>
          <a:lstStyle/>
          <a:p>
            <a:r>
              <a:rPr lang="en-US" dirty="0">
                <a:solidFill>
                  <a:schemeClr val="bg1"/>
                </a:solidFill>
                <a:highlight>
                  <a:srgbClr val="800000"/>
                </a:highlight>
                <a:latin typeface="Bookman Old Style" panose="02050604050505020204" pitchFamily="18" charset="0"/>
              </a:rPr>
              <a:t>Right Product </a:t>
            </a:r>
            <a:r>
              <a:rPr lang="en-US" dirty="0">
                <a:solidFill>
                  <a:srgbClr val="FFFF00"/>
                </a:solidFill>
                <a:highlight>
                  <a:srgbClr val="800000"/>
                </a:highlight>
                <a:latin typeface="Bookman Old Style" panose="02050604050505020204" pitchFamily="18" charset="0"/>
              </a:rPr>
              <a:t>+</a:t>
            </a:r>
            <a:r>
              <a:rPr lang="en-US" dirty="0">
                <a:solidFill>
                  <a:schemeClr val="bg1"/>
                </a:solidFill>
                <a:highlight>
                  <a:srgbClr val="800000"/>
                </a:highlight>
                <a:latin typeface="Bookman Old Style" panose="02050604050505020204" pitchFamily="18" charset="0"/>
              </a:rPr>
              <a:t> Right Quantity </a:t>
            </a:r>
            <a:r>
              <a:rPr lang="en-US" dirty="0">
                <a:solidFill>
                  <a:srgbClr val="FFFF00"/>
                </a:solidFill>
                <a:highlight>
                  <a:srgbClr val="800000"/>
                </a:highlight>
                <a:latin typeface="Bookman Old Style" panose="02050604050505020204" pitchFamily="18" charset="0"/>
              </a:rPr>
              <a:t>+</a:t>
            </a:r>
            <a:r>
              <a:rPr lang="en-US" dirty="0">
                <a:solidFill>
                  <a:schemeClr val="bg1"/>
                </a:solidFill>
                <a:highlight>
                  <a:srgbClr val="800000"/>
                </a:highlight>
                <a:latin typeface="Bookman Old Style" panose="02050604050505020204" pitchFamily="18" charset="0"/>
              </a:rPr>
              <a:t> Right Location </a:t>
            </a:r>
            <a:r>
              <a:rPr lang="en-US" dirty="0">
                <a:solidFill>
                  <a:srgbClr val="FFFF00"/>
                </a:solidFill>
                <a:highlight>
                  <a:srgbClr val="800000"/>
                </a:highlight>
                <a:latin typeface="Bookman Old Style" panose="02050604050505020204" pitchFamily="18" charset="0"/>
              </a:rPr>
              <a:t>+</a:t>
            </a:r>
            <a:r>
              <a:rPr lang="en-US" dirty="0">
                <a:solidFill>
                  <a:schemeClr val="bg1"/>
                </a:solidFill>
                <a:highlight>
                  <a:srgbClr val="800000"/>
                </a:highlight>
                <a:latin typeface="Bookman Old Style" panose="02050604050505020204" pitchFamily="18" charset="0"/>
              </a:rPr>
              <a:t> Right Time </a:t>
            </a:r>
            <a:r>
              <a:rPr lang="en-US" dirty="0">
                <a:solidFill>
                  <a:srgbClr val="FFFF00"/>
                </a:solidFill>
                <a:highlight>
                  <a:srgbClr val="800000"/>
                </a:highlight>
                <a:latin typeface="Bookman Old Style" panose="02050604050505020204" pitchFamily="18" charset="0"/>
              </a:rPr>
              <a:t>=</a:t>
            </a:r>
            <a:r>
              <a:rPr lang="en-US" dirty="0">
                <a:solidFill>
                  <a:schemeClr val="bg1"/>
                </a:solidFill>
                <a:highlight>
                  <a:srgbClr val="800000"/>
                </a:highlight>
                <a:latin typeface="Bookman Old Style" panose="02050604050505020204" pitchFamily="18" charset="0"/>
              </a:rPr>
              <a:t> Better Inventory Decisions</a:t>
            </a:r>
            <a:endParaRPr lang="en-IN" dirty="0">
              <a:solidFill>
                <a:schemeClr val="bg1"/>
              </a:solidFill>
              <a:highlight>
                <a:srgbClr val="800000"/>
              </a:highlight>
              <a:latin typeface="Bookman Old Style" panose="020506040505050202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4571886" cy="6858000"/>
          </a:xfrm>
          <a:prstGeom prst="rect">
            <a:avLst/>
          </a:prstGeom>
          <a:solidFill>
            <a:srgbClr val="E8E8E3"/>
          </a:solidFill>
          <a:ln/>
        </p:spPr>
      </p:sp>
      <p:pic>
        <p:nvPicPr>
          <p:cNvPr id="3" name="Image 0" descr="preencoded.png"/>
          <p:cNvPicPr>
            <a:picLocks noChangeAspect="1"/>
          </p:cNvPicPr>
          <p:nvPr/>
        </p:nvPicPr>
        <p:blipFill>
          <a:blip r:embed="rId3"/>
          <a:stretch>
            <a:fillRect/>
          </a:stretch>
        </p:blipFill>
        <p:spPr>
          <a:xfrm>
            <a:off x="94454" y="311982"/>
            <a:ext cx="4382879" cy="6234035"/>
          </a:xfrm>
          <a:prstGeom prst="rect">
            <a:avLst/>
          </a:prstGeom>
        </p:spPr>
      </p:pic>
      <p:sp>
        <p:nvSpPr>
          <p:cNvPr id="4" name="Text 1"/>
          <p:cNvSpPr/>
          <p:nvPr/>
        </p:nvSpPr>
        <p:spPr>
          <a:xfrm>
            <a:off x="5006582" y="2704306"/>
            <a:ext cx="5657874" cy="1261637"/>
          </a:xfrm>
          <a:prstGeom prst="rect">
            <a:avLst/>
          </a:prstGeom>
          <a:noFill/>
          <a:ln/>
        </p:spPr>
        <p:txBody>
          <a:bodyPr wrap="square" lIns="0" tIns="0" rIns="0" bIns="0" rtlCol="0" anchor="t">
            <a:noAutofit/>
          </a:bodyPr>
          <a:lstStyle/>
          <a:p>
            <a:pPr marL="0" indent="0" algn="l">
              <a:lnSpc>
                <a:spcPct val="104000"/>
              </a:lnSpc>
              <a:buNone/>
            </a:pPr>
            <a:r>
              <a:rPr lang="en-US" sz="8000" b="1" u="sng" dirty="0">
                <a:latin typeface="Bell MT" panose="02020503060305020303" pitchFamily="18" charset="0"/>
              </a:rPr>
              <a:t>Thank You</a:t>
            </a:r>
          </a:p>
        </p:txBody>
      </p:sp>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289</TotalTime>
  <Words>712</Words>
  <Application>Microsoft Office PowerPoint</Application>
  <PresentationFormat>Widescreen</PresentationFormat>
  <Paragraphs>102</Paragraphs>
  <Slides>8</Slides>
  <Notes>7</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8</vt:i4>
      </vt:variant>
    </vt:vector>
  </HeadingPairs>
  <TitlesOfParts>
    <vt:vector size="19" baseType="lpstr">
      <vt:lpstr>Gelasio</vt:lpstr>
      <vt:lpstr>Arial</vt:lpstr>
      <vt:lpstr>Wingdings 3</vt:lpstr>
      <vt:lpstr>Bahnschrift SemiBold</vt:lpstr>
      <vt:lpstr>Berlin Sans FB Demi</vt:lpstr>
      <vt:lpstr>Bookman Old Style</vt:lpstr>
      <vt:lpstr>Wingdings</vt:lpstr>
      <vt:lpstr>Bell MT</vt:lpstr>
      <vt:lpstr>Trebuchet MS</vt:lpstr>
      <vt:lpstr>Lato</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Srabanti Murmu</dc:creator>
  <cp:lastModifiedBy>Anubhav Tiwary</cp:lastModifiedBy>
  <cp:revision>4</cp:revision>
  <dcterms:created xsi:type="dcterms:W3CDTF">2026-08-28T05:43:14Z</dcterms:created>
  <dcterms:modified xsi:type="dcterms:W3CDTF">2026-08-30T06:25:22Z</dcterms:modified>
</cp:coreProperties>
</file>